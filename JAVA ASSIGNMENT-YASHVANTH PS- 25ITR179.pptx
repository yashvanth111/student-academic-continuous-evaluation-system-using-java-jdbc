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tailwindcss.com/docs?utm_source=chatgpt.com" TargetMode="External"/><Relationship Id="rId3" Type="http://schemas.openxmlformats.org/officeDocument/2006/relationships/hyperlink" Target="https://docs.oracle.com/en/java/javase/17/docs/api/jdk.httpserver/com/sun/net/httpserver/HttpServer.html?utm_source=chatgpt.com" TargetMode="External"/><Relationship Id="rId7" Type="http://schemas.openxmlformats.org/officeDocument/2006/relationships/hyperlink" Target="https://www.chartjs.org/docs/latest/?utm_source=chatgpt.com" TargetMode="External"/><Relationship Id="rId12" Type="http://schemas.openxmlformats.org/officeDocument/2006/relationships/hyperlink" Target="https://github.com/yashvanth111/Student-Academic-Continuous-Evaluation-System-using-Java-JDBC.git" TargetMode="External"/><Relationship Id="rId2" Type="http://schemas.openxmlformats.org/officeDocument/2006/relationships/hyperlink" Target="https://docs.oracle.com/javase/8/docs/technotes/guides/jdbc/?utm_source=chatgpt.com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ugc.gov.in/pdfnews/8023719_Guidelines-for-CBCS.pdf?utm_source=chatgpt.com" TargetMode="External"/><Relationship Id="rId11" Type="http://schemas.openxmlformats.org/officeDocument/2006/relationships/hyperlink" Target="https://claude.ai/" TargetMode="External"/><Relationship Id="rId5" Type="http://schemas.openxmlformats.org/officeDocument/2006/relationships/hyperlink" Target="https://dev.mysql.com/doc/connector-j/8.0/en/?utm_source=chatgpt.com" TargetMode="External"/><Relationship Id="rId10" Type="http://schemas.openxmlformats.org/officeDocument/2006/relationships/hyperlink" Target="https://www.youtube.com/results?search_query=Java+JDBC+MySQL+tutorial" TargetMode="External"/><Relationship Id="rId4" Type="http://schemas.openxmlformats.org/officeDocument/2006/relationships/hyperlink" Target="https://dev.mysql.com/doc/refman/8.0/en/?utm_source=chatgpt.com" TargetMode="External"/><Relationship Id="rId9" Type="http://schemas.openxmlformats.org/officeDocument/2006/relationships/hyperlink" Target="https://www.geeksforgeeks.org/establishing-jdbc-connection-in-ja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 descr="KEC logo  Kongu Engineering College 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4674" y="1739899"/>
            <a:ext cx="2747596" cy="110532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659382" y="3927474"/>
            <a:ext cx="4244975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Times New Roman"/>
                <a:cs typeface="Times New Roman"/>
              </a:rPr>
              <a:t>DEPARTMENT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INFORMATION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/>
                <a:cs typeface="Times New Roman"/>
              </a:rPr>
              <a:t>24ITT32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-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PROGRAMMING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JAVA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2657" y="5832119"/>
            <a:ext cx="3634104" cy="64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7365">
              <a:lnSpc>
                <a:spcPct val="126899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INDIVIDUAL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PROJECT</a:t>
            </a:r>
            <a:r>
              <a:rPr sz="1600" b="1" spc="-25" dirty="0">
                <a:latin typeface="Times New Roman"/>
                <a:cs typeface="Times New Roman"/>
              </a:rPr>
              <a:t> ON </a:t>
            </a:r>
            <a:r>
              <a:rPr sz="1600" b="1" dirty="0">
                <a:latin typeface="Times New Roman"/>
                <a:cs typeface="Times New Roman"/>
              </a:rPr>
              <a:t>ACADEMIC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MANAGEMENT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SYSTEM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1823" y="7861300"/>
            <a:ext cx="2270447" cy="125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P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</a:t>
            </a:r>
            <a:r>
              <a:rPr sz="1400" b="1" spc="-9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J</a:t>
            </a:r>
            <a:r>
              <a:rPr sz="1400" b="1" spc="-1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</a:t>
            </a:r>
            <a:r>
              <a:rPr sz="1400" b="1" spc="-9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</a:t>
            </a:r>
            <a:r>
              <a:rPr sz="1400" b="1" spc="3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</a:t>
            </a:r>
            <a:r>
              <a:rPr sz="1400" b="1" spc="-10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</a:t>
            </a:r>
            <a:r>
              <a:rPr sz="1400" b="1" spc="-1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</a:t>
            </a:r>
            <a:r>
              <a:rPr sz="1400" b="1" spc="-14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T</a:t>
            </a:r>
            <a:endParaRPr sz="1400" dirty="0">
              <a:latin typeface="Times New Roman"/>
              <a:cs typeface="Times New Roman"/>
            </a:endParaRPr>
          </a:p>
          <a:p>
            <a:pPr marL="24765" algn="ctr">
              <a:lnSpc>
                <a:spcPct val="100000"/>
              </a:lnSpc>
              <a:spcBef>
                <a:spcPts val="950"/>
              </a:spcBef>
            </a:pPr>
            <a:r>
              <a:rPr sz="1400" dirty="0">
                <a:latin typeface="Times New Roman"/>
                <a:cs typeface="Times New Roman"/>
              </a:rPr>
              <a:t>Submitted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by</a:t>
            </a:r>
            <a:endParaRPr lang="en-US" sz="1400" dirty="0">
              <a:latin typeface="Times New Roman"/>
              <a:cs typeface="Times New Roman"/>
            </a:endParaRPr>
          </a:p>
          <a:p>
            <a:pPr marL="24765" algn="ctr">
              <a:lnSpc>
                <a:spcPct val="100000"/>
              </a:lnSpc>
              <a:spcBef>
                <a:spcPts val="950"/>
              </a:spcBef>
            </a:pPr>
            <a:r>
              <a:rPr lang="en-IN" sz="1400" dirty="0">
                <a:latin typeface="Times New Roman"/>
                <a:cs typeface="Times New Roman"/>
              </a:rPr>
              <a:t>YASHVANTH PS</a:t>
            </a:r>
          </a:p>
          <a:p>
            <a:pPr marL="24765" algn="ctr">
              <a:lnSpc>
                <a:spcPct val="100000"/>
              </a:lnSpc>
              <a:spcBef>
                <a:spcPts val="950"/>
              </a:spcBef>
            </a:pPr>
            <a:r>
              <a:rPr lang="en-IN" sz="1400" dirty="0">
                <a:latin typeface="Times New Roman"/>
                <a:cs typeface="Times New Roman"/>
              </a:rPr>
              <a:t>25ITR179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25623" y="888237"/>
            <a:ext cx="1908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10" dirty="0">
                <a:latin typeface="Times New Roman"/>
                <a:cs typeface="Times New Roman"/>
              </a:rPr>
              <a:t>JAVA</a:t>
            </a:r>
            <a:r>
              <a:rPr sz="1600" b="1" spc="-15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ASSIGNMENT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596897"/>
            <a:ext cx="5757545" cy="241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Times New Roman"/>
                <a:cs typeface="Times New Roman"/>
              </a:rPr>
              <a:t>AIM:</a:t>
            </a:r>
            <a:endParaRPr sz="1400">
              <a:latin typeface="Times New Roman"/>
              <a:cs typeface="Times New Roman"/>
            </a:endParaRPr>
          </a:p>
          <a:p>
            <a:pPr marL="12700" marR="691515" indent="456565">
              <a:lnSpc>
                <a:spcPct val="103299"/>
              </a:lnSpc>
              <a:spcBef>
                <a:spcPts val="825"/>
              </a:spcBef>
            </a:pPr>
            <a:r>
              <a:rPr sz="1200" spc="-10" dirty="0">
                <a:latin typeface="Times New Roman"/>
                <a:cs typeface="Times New Roman"/>
              </a:rPr>
              <a:t>Development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Kongu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(R2024)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Student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&amp; </a:t>
            </a:r>
            <a:r>
              <a:rPr sz="1200" dirty="0">
                <a:latin typeface="Times New Roman"/>
                <a:cs typeface="Times New Roman"/>
              </a:rPr>
              <a:t>Continuous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JDBC.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Times New Roman"/>
                <a:cs typeface="Times New Roman"/>
              </a:rPr>
              <a:t>OBJECTIVE:</a:t>
            </a:r>
            <a:endParaRPr sz="140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03600"/>
              </a:lnSpc>
              <a:spcBef>
                <a:spcPts val="805"/>
              </a:spcBef>
            </a:pP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JDBC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student </a:t>
            </a:r>
            <a:r>
              <a:rPr sz="1200" dirty="0">
                <a:latin typeface="Times New Roman"/>
                <a:cs typeface="Times New Roman"/>
              </a:rPr>
              <a:t>records,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incremental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entry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(Continuous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Internal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Assessments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Semester Examinations),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enforce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attendance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eligibility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rules,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academic performance </a:t>
            </a:r>
            <a:r>
              <a:rPr sz="1200" dirty="0">
                <a:latin typeface="Times New Roman"/>
                <a:cs typeface="Times New Roman"/>
              </a:rPr>
              <a:t>reports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Kongu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College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(Autonomous)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Regulation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2024.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Requirements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Specifications.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456302"/>
            <a:ext cx="12922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FLOW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Times New Roman"/>
                <a:cs typeface="Times New Roman"/>
              </a:rPr>
              <a:t>CHART: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7850" y="4922206"/>
            <a:ext cx="4172585" cy="482251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5758180" cy="883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PROCEDURE:</a:t>
            </a:r>
            <a:endParaRPr sz="1400">
              <a:latin typeface="Times New Roman"/>
              <a:cs typeface="Times New Roman"/>
            </a:endParaRPr>
          </a:p>
          <a:p>
            <a:pPr marL="469265" marR="7620" indent="-228600" algn="just">
              <a:lnSpc>
                <a:spcPct val="143300"/>
              </a:lnSpc>
              <a:spcBef>
                <a:spcPts val="925"/>
              </a:spcBef>
              <a:buFont typeface="Wingdings"/>
              <a:buChar char="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Connector/J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driver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communication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Java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469265" marR="8255" indent="-228600" algn="just">
              <a:lnSpc>
                <a:spcPct val="144200"/>
              </a:lnSpc>
              <a:buFont typeface="Wingdings"/>
              <a:buChar char="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Establish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kec_eval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running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server </a:t>
            </a:r>
            <a:r>
              <a:rPr sz="1200" dirty="0">
                <a:latin typeface="Times New Roman"/>
                <a:cs typeface="Times New Roman"/>
              </a:rPr>
              <a:t>using </a:t>
            </a:r>
            <a:r>
              <a:rPr sz="1200" spc="-10" dirty="0">
                <a:latin typeface="Times New Roman"/>
                <a:cs typeface="Times New Roman"/>
              </a:rPr>
              <a:t>DriverManager.getConnection().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469265" marR="8255" indent="-228600" algn="just">
              <a:lnSpc>
                <a:spcPct val="143900"/>
              </a:lnSpc>
              <a:buFont typeface="Wingdings"/>
              <a:buChar char="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retrieve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roll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number,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name,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semester,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 information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 code,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course type.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469265" marR="7620" indent="-228600" algn="just">
              <a:lnSpc>
                <a:spcPct val="143300"/>
              </a:lnSpc>
              <a:buFont typeface="Wingdings"/>
              <a:buChar char="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Enroll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semester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courses,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attended,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percentage.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469265" marR="6350" indent="-228600" algn="just">
              <a:lnSpc>
                <a:spcPct val="143800"/>
              </a:lnSpc>
              <a:buFont typeface="Wingdings"/>
              <a:buChar char="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Verify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eligibility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percentage.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75%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above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eligible,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65%–</a:t>
            </a:r>
            <a:r>
              <a:rPr sz="1200" dirty="0">
                <a:latin typeface="Times New Roman"/>
                <a:cs typeface="Times New Roman"/>
              </a:rPr>
              <a:t>74%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condonation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verification,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those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65%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Shortage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(SA).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469265" marR="8890" indent="-228600" algn="just">
              <a:lnSpc>
                <a:spcPct val="144200"/>
              </a:lnSpc>
              <a:buFont typeface="Wingdings"/>
              <a:buChar char="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Record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CIA-</a:t>
            </a:r>
            <a:r>
              <a:rPr sz="1200" dirty="0">
                <a:latin typeface="Times New Roman"/>
                <a:cs typeface="Times New Roman"/>
              </a:rPr>
              <a:t>1,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CIA-</a:t>
            </a:r>
            <a:r>
              <a:rPr sz="1200" dirty="0">
                <a:latin typeface="Times New Roman"/>
                <a:cs typeface="Times New Roman"/>
              </a:rPr>
              <a:t>2,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assignment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marks,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scaled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 </a:t>
            </a:r>
            <a:r>
              <a:rPr sz="1200" dirty="0">
                <a:latin typeface="Times New Roman"/>
                <a:cs typeface="Times New Roman"/>
              </a:rPr>
              <a:t>assessment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weightages.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469265" marR="7620" indent="-228600" algn="just">
              <a:lnSpc>
                <a:spcPct val="143300"/>
              </a:lnSpc>
              <a:buFont typeface="Wingdings"/>
              <a:buChar char="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Record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end-</a:t>
            </a:r>
            <a:r>
              <a:rPr sz="1200" dirty="0">
                <a:latin typeface="Times New Roman"/>
                <a:cs typeface="Times New Roman"/>
              </a:rPr>
              <a:t>semester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marks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100,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verify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minimum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passing requirements,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469265" marR="8890" indent="-228600" algn="just">
              <a:lnSpc>
                <a:spcPct val="143800"/>
              </a:lnSpc>
              <a:spcBef>
                <a:spcPts val="5"/>
              </a:spcBef>
              <a:buFont typeface="Wingdings"/>
              <a:buChar char="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Calculate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total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combining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scaled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CIA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marks.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Assign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letter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grades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grade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grading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marking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if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mark.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Font typeface="Wingdings"/>
              <a:buChar char=""/>
            </a:pPr>
            <a:endParaRPr sz="1200">
              <a:latin typeface="Times New Roman"/>
              <a:cs typeface="Times New Roman"/>
            </a:endParaRPr>
          </a:p>
          <a:p>
            <a:pPr marL="469265" marR="5080" indent="-228600" algn="just">
              <a:lnSpc>
                <a:spcPct val="143500"/>
              </a:lnSpc>
              <a:buFont typeface="Wingdings"/>
              <a:buChar char="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Generate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grade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sheets,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shortage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reports,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department-</a:t>
            </a:r>
            <a:r>
              <a:rPr sz="1200" dirty="0">
                <a:latin typeface="Times New Roman"/>
                <a:cs typeface="Times New Roman"/>
              </a:rPr>
              <a:t>wise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pass </a:t>
            </a:r>
            <a:r>
              <a:rPr sz="1200" dirty="0">
                <a:latin typeface="Times New Roman"/>
                <a:cs typeface="Times New Roman"/>
              </a:rPr>
              <a:t>percentage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reports.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interactive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command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prompt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console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1851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0" dirty="0">
                <a:latin typeface="Times New Roman"/>
                <a:cs typeface="Times New Roman"/>
              </a:rPr>
              <a:t>DATABASE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SCHEMA: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443" y="1372379"/>
            <a:ext cx="1788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1.STUDENTS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TABLE: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994530"/>
            <a:ext cx="1717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2.</a:t>
            </a:r>
            <a:r>
              <a:rPr sz="1400" b="1" spc="-1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COURSES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TABLE: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6283832"/>
            <a:ext cx="22618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3.</a:t>
            </a:r>
            <a:r>
              <a:rPr sz="1400" b="1" spc="-1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ENROLLMENTS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TABLE: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387DDB-B438-D6C1-83B9-30F60FDAF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36" y="1743386"/>
            <a:ext cx="4313294" cy="19182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E1F43C-D07D-291F-5FE7-BA7A6CB2C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09" y="4275911"/>
            <a:ext cx="5563082" cy="19268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9D55CF-F7B7-8AFE-B376-1E92C77D6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3" y="6776163"/>
            <a:ext cx="5151566" cy="2857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450" y="510762"/>
            <a:ext cx="2764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4.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ASSESSMENT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MARKS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TABLE: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517519"/>
            <a:ext cx="6152846" cy="6942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SOURCE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CODE</a:t>
            </a:r>
            <a:r>
              <a:rPr sz="1400" b="1" spc="-2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  <a:p>
            <a:r>
              <a:rPr sz="1400" b="1" spc="-10" dirty="0">
                <a:latin typeface="Times New Roman"/>
                <a:cs typeface="Times New Roman"/>
              </a:rPr>
              <a:t>MAINAPP</a:t>
            </a:r>
            <a:r>
              <a:rPr lang="en-US" sz="1400" b="1" spc="-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JAVA:</a:t>
            </a:r>
            <a:endParaRPr lang="en-US" sz="1400" b="1" spc="-10" dirty="0">
              <a:latin typeface="Times New Roman"/>
              <a:cs typeface="Times New Roman"/>
            </a:endParaRPr>
          </a:p>
          <a:p>
            <a:r>
              <a:rPr lang="en-IN" sz="1050" dirty="0"/>
              <a:t>import </a:t>
            </a:r>
            <a:r>
              <a:rPr lang="en-IN" sz="1050" dirty="0" err="1"/>
              <a:t>java.sql.SQLException</a:t>
            </a:r>
            <a:r>
              <a:rPr lang="en-IN" sz="1050" dirty="0"/>
              <a:t>;</a:t>
            </a:r>
          </a:p>
          <a:p>
            <a:r>
              <a:rPr lang="en-IN" sz="1050" dirty="0"/>
              <a:t>import </a:t>
            </a:r>
            <a:r>
              <a:rPr lang="en-IN" sz="1050" dirty="0" err="1"/>
              <a:t>java.util.Scanner</a:t>
            </a:r>
            <a:r>
              <a:rPr lang="en-IN" sz="1050" dirty="0"/>
              <a:t>;</a:t>
            </a:r>
          </a:p>
          <a:p>
            <a:r>
              <a:rPr lang="en-IN" sz="1050" dirty="0"/>
              <a:t>public class </a:t>
            </a:r>
            <a:r>
              <a:rPr lang="en-IN" sz="1050" dirty="0" err="1"/>
              <a:t>MainApp</a:t>
            </a:r>
            <a:r>
              <a:rPr lang="en-IN" sz="1050" dirty="0"/>
              <a:t> {</a:t>
            </a:r>
          </a:p>
          <a:p>
            <a:r>
              <a:rPr lang="en-IN" sz="1050" dirty="0"/>
              <a:t>private static final Scanner </a:t>
            </a:r>
            <a:r>
              <a:rPr lang="en-IN" sz="1050" dirty="0" err="1"/>
              <a:t>sc</a:t>
            </a:r>
            <a:r>
              <a:rPr lang="en-IN" sz="1050" dirty="0"/>
              <a:t> = new Scanner(System.in);</a:t>
            </a:r>
          </a:p>
          <a:p>
            <a:r>
              <a:rPr lang="en-IN" sz="1050" dirty="0"/>
              <a:t>private static final </a:t>
            </a:r>
            <a:r>
              <a:rPr lang="en-IN" sz="1050" dirty="0" err="1"/>
              <a:t>StudentDAO</a:t>
            </a:r>
            <a:r>
              <a:rPr lang="en-IN" sz="1050" dirty="0"/>
              <a:t> </a:t>
            </a:r>
            <a:r>
              <a:rPr lang="en-IN" sz="1050" dirty="0" err="1"/>
              <a:t>studentDAO</a:t>
            </a:r>
            <a:r>
              <a:rPr lang="en-IN" sz="1050" dirty="0"/>
              <a:t> = new </a:t>
            </a:r>
            <a:r>
              <a:rPr lang="en-IN" sz="1050" dirty="0" err="1"/>
              <a:t>StudentDAO</a:t>
            </a:r>
            <a:r>
              <a:rPr lang="en-IN" sz="1050" dirty="0"/>
              <a:t>();</a:t>
            </a:r>
          </a:p>
          <a:p>
            <a:r>
              <a:rPr lang="en-IN" sz="1050" dirty="0"/>
              <a:t>private static final </a:t>
            </a:r>
            <a:r>
              <a:rPr lang="en-IN" sz="1050" dirty="0" err="1"/>
              <a:t>AcademicDAO</a:t>
            </a:r>
            <a:r>
              <a:rPr lang="en-IN" sz="1050" dirty="0"/>
              <a:t> </a:t>
            </a:r>
            <a:r>
              <a:rPr lang="en-IN" sz="1050" dirty="0" err="1"/>
              <a:t>academicDAO</a:t>
            </a:r>
            <a:r>
              <a:rPr lang="en-IN" sz="1050" dirty="0"/>
              <a:t> = new </a:t>
            </a:r>
            <a:r>
              <a:rPr lang="en-IN" sz="1050" dirty="0" err="1"/>
              <a:t>AcademicDAO</a:t>
            </a:r>
            <a:r>
              <a:rPr lang="en-IN" sz="1050" dirty="0"/>
              <a:t>();</a:t>
            </a:r>
          </a:p>
          <a:p>
            <a:r>
              <a:rPr lang="en-IN" sz="1050" dirty="0"/>
              <a:t>public static void main(String[] </a:t>
            </a:r>
            <a:r>
              <a:rPr lang="en-IN" sz="1050" dirty="0" err="1"/>
              <a:t>args</a:t>
            </a:r>
            <a:r>
              <a:rPr lang="en-IN" sz="1050" dirty="0"/>
              <a:t>) {</a:t>
            </a:r>
          </a:p>
          <a:p>
            <a:r>
              <a:rPr lang="en-IN" sz="1050" dirty="0" err="1"/>
              <a:t>printBanner</a:t>
            </a:r>
            <a:r>
              <a:rPr lang="en-IN" sz="1050" dirty="0"/>
              <a:t>();</a:t>
            </a:r>
          </a:p>
          <a:p>
            <a:r>
              <a:rPr lang="en-IN" sz="1050" dirty="0"/>
              <a:t>if (!</a:t>
            </a:r>
            <a:r>
              <a:rPr lang="en-IN" sz="1050" dirty="0" err="1"/>
              <a:t>DBConnection.testConnection</a:t>
            </a:r>
            <a:r>
              <a:rPr lang="en-IN" sz="1050" dirty="0"/>
              <a:t>()) {</a:t>
            </a:r>
          </a:p>
          <a:p>
            <a:r>
              <a:rPr lang="en-IN" sz="1050" dirty="0" err="1"/>
              <a:t>System.err.println</a:t>
            </a:r>
            <a:r>
              <a:rPr lang="en-IN" sz="1050" dirty="0"/>
              <a:t>("Unable to connect to MySQL. Check service, </a:t>
            </a:r>
            <a:r>
              <a:rPr lang="en-IN" sz="1050" dirty="0" err="1"/>
              <a:t>kec_academic</a:t>
            </a:r>
            <a:r>
              <a:rPr lang="en-IN" sz="1050" dirty="0"/>
              <a:t> schema and DB credentials.");</a:t>
            </a:r>
          </a:p>
          <a:p>
            <a:r>
              <a:rPr lang="en-IN" sz="1050" dirty="0"/>
              <a:t>return;</a:t>
            </a:r>
          </a:p>
          <a:p>
            <a:r>
              <a:rPr lang="en-IN" sz="1050" dirty="0"/>
              <a:t>}</a:t>
            </a:r>
          </a:p>
          <a:p>
            <a:r>
              <a:rPr lang="en-IN" sz="1050" dirty="0" err="1"/>
              <a:t>System.out.println</a:t>
            </a:r>
            <a:r>
              <a:rPr lang="en-IN" sz="1050" dirty="0"/>
              <a:t>("Database connected successfully."); </a:t>
            </a:r>
            <a:r>
              <a:rPr lang="en-IN" sz="1050" dirty="0" err="1"/>
              <a:t>boolean</a:t>
            </a:r>
            <a:r>
              <a:rPr lang="en-IN" sz="1050" dirty="0"/>
              <a:t> running = true;</a:t>
            </a:r>
          </a:p>
          <a:p>
            <a:r>
              <a:rPr lang="en-IN" sz="1050" dirty="0"/>
              <a:t>while (running) {</a:t>
            </a:r>
          </a:p>
          <a:p>
            <a:r>
              <a:rPr lang="en-IN" sz="1050" dirty="0" err="1"/>
              <a:t>printMainMenu</a:t>
            </a:r>
            <a:r>
              <a:rPr lang="en-IN" sz="1050" dirty="0"/>
              <a:t>();</a:t>
            </a:r>
          </a:p>
          <a:p>
            <a:r>
              <a:rPr lang="en-IN" sz="1050" dirty="0"/>
              <a:t>try {</a:t>
            </a:r>
          </a:p>
          <a:p>
            <a:r>
              <a:rPr lang="en-IN" sz="1050" dirty="0"/>
              <a:t>switch (</a:t>
            </a:r>
            <a:r>
              <a:rPr lang="en-IN" sz="1050" dirty="0" err="1"/>
              <a:t>readInt</a:t>
            </a:r>
            <a:r>
              <a:rPr lang="en-IN" sz="1050" dirty="0"/>
              <a:t>("Enter Choice (0-10): ")) {</a:t>
            </a:r>
          </a:p>
          <a:p>
            <a:r>
              <a:rPr lang="en-IN" sz="1050" dirty="0"/>
              <a:t>case 1: </a:t>
            </a:r>
            <a:r>
              <a:rPr lang="en-IN" sz="1050" dirty="0" err="1"/>
              <a:t>registerStudent</a:t>
            </a:r>
            <a:r>
              <a:rPr lang="en-IN" sz="1050" dirty="0"/>
              <a:t>(); break; case 2: </a:t>
            </a:r>
            <a:r>
              <a:rPr lang="en-IN" sz="1050" dirty="0" err="1"/>
              <a:t>addCourse</a:t>
            </a:r>
            <a:r>
              <a:rPr lang="en-IN" sz="1050" dirty="0"/>
              <a:t>(); break;</a:t>
            </a:r>
          </a:p>
          <a:p>
            <a:r>
              <a:rPr lang="en-IN" sz="1050" dirty="0"/>
              <a:t>case 3: </a:t>
            </a:r>
            <a:r>
              <a:rPr lang="en-IN" sz="1050" dirty="0" err="1"/>
              <a:t>enrollStudent</a:t>
            </a:r>
            <a:r>
              <a:rPr lang="en-IN" sz="1050" dirty="0"/>
              <a:t>(); break; case 4: attendance(); break;</a:t>
            </a:r>
          </a:p>
          <a:p>
            <a:r>
              <a:rPr lang="en-IN" sz="1050" dirty="0"/>
              <a:t>case 5: </a:t>
            </a:r>
            <a:r>
              <a:rPr lang="en-IN" sz="1050" dirty="0" err="1"/>
              <a:t>marksMenu</a:t>
            </a:r>
            <a:r>
              <a:rPr lang="en-IN" sz="1050" dirty="0"/>
              <a:t>(); break; case 6: </a:t>
            </a:r>
            <a:r>
              <a:rPr lang="en-IN" sz="1050" dirty="0" err="1"/>
              <a:t>markSheet</a:t>
            </a:r>
            <a:r>
              <a:rPr lang="en-IN" sz="1050" dirty="0"/>
              <a:t>(); break;</a:t>
            </a:r>
          </a:p>
          <a:p>
            <a:r>
              <a:rPr lang="en-IN" sz="1050" dirty="0"/>
              <a:t>case 7: </a:t>
            </a:r>
            <a:r>
              <a:rPr lang="en-IN" sz="1050" dirty="0" err="1"/>
              <a:t>academicDAO.printAttendanceDefaulters</a:t>
            </a:r>
            <a:r>
              <a:rPr lang="en-IN" sz="1050" dirty="0"/>
              <a:t>(); break; case 8: </a:t>
            </a:r>
            <a:r>
              <a:rPr lang="en-IN" sz="1050" dirty="0" err="1"/>
              <a:t>classSummary</a:t>
            </a:r>
            <a:r>
              <a:rPr lang="en-IN" sz="1050" dirty="0"/>
              <a:t>(); break;</a:t>
            </a:r>
          </a:p>
          <a:p>
            <a:r>
              <a:rPr lang="en-IN" sz="1050" dirty="0"/>
              <a:t>case 9: </a:t>
            </a:r>
            <a:r>
              <a:rPr lang="en-IN" sz="1050" dirty="0" err="1"/>
              <a:t>studentDAO.showStudents</a:t>
            </a:r>
            <a:r>
              <a:rPr lang="en-IN" sz="1050" dirty="0"/>
              <a:t>(); </a:t>
            </a:r>
            <a:r>
              <a:rPr lang="en-IN" sz="1050" dirty="0" err="1"/>
              <a:t>studentDAO.showCourses</a:t>
            </a:r>
            <a:r>
              <a:rPr lang="en-IN" sz="1050" dirty="0"/>
              <a:t>(); break;</a:t>
            </a:r>
          </a:p>
          <a:p>
            <a:r>
              <a:rPr lang="en-IN" sz="1050" dirty="0"/>
              <a:t>case 10: </a:t>
            </a:r>
            <a:r>
              <a:rPr lang="en-IN" sz="1050" dirty="0" err="1"/>
              <a:t>seedData</a:t>
            </a:r>
            <a:r>
              <a:rPr lang="en-IN" sz="1050" dirty="0"/>
              <a:t>(); break;</a:t>
            </a:r>
          </a:p>
          <a:p>
            <a:r>
              <a:rPr lang="en-IN" sz="1050" dirty="0"/>
              <a:t>case 0: running = false; </a:t>
            </a:r>
            <a:r>
              <a:rPr lang="en-IN" sz="1050" dirty="0" err="1"/>
              <a:t>System.out.println</a:t>
            </a:r>
            <a:r>
              <a:rPr lang="en-IN" sz="1050" dirty="0"/>
              <a:t>("Goodbye!"); break;</a:t>
            </a:r>
          </a:p>
          <a:p>
            <a:r>
              <a:rPr lang="en-IN" sz="1050" dirty="0"/>
              <a:t>default: </a:t>
            </a:r>
            <a:r>
              <a:rPr lang="en-IN" sz="1050" dirty="0" err="1"/>
              <a:t>System.out.println</a:t>
            </a:r>
            <a:r>
              <a:rPr lang="en-IN" sz="1050" dirty="0"/>
              <a:t>("Invalid choice. Enter 0-10.");</a:t>
            </a:r>
          </a:p>
          <a:p>
            <a:r>
              <a:rPr lang="en-IN" sz="1050" dirty="0"/>
              <a:t>}</a:t>
            </a:r>
          </a:p>
          <a:p>
            <a:r>
              <a:rPr lang="en-IN" sz="1050" dirty="0"/>
              <a:t>} catch (Exception e) { </a:t>
            </a:r>
            <a:r>
              <a:rPr lang="en-IN" sz="1050" dirty="0" err="1"/>
              <a:t>System.err.println</a:t>
            </a:r>
            <a:r>
              <a:rPr lang="en-IN" sz="1050" dirty="0"/>
              <a:t>("Error: " + </a:t>
            </a:r>
            <a:r>
              <a:rPr lang="en-IN" sz="1050" dirty="0" err="1"/>
              <a:t>e.getMessage</a:t>
            </a:r>
            <a:r>
              <a:rPr lang="en-IN" sz="1050" dirty="0"/>
              <a:t>()); } if (running) pause();</a:t>
            </a:r>
          </a:p>
          <a:p>
            <a:r>
              <a:rPr lang="en-IN" sz="1050" dirty="0"/>
              <a:t>}</a:t>
            </a:r>
          </a:p>
          <a:p>
            <a:r>
              <a:rPr lang="en-IN" sz="1050" dirty="0"/>
              <a:t>}</a:t>
            </a:r>
            <a:r>
              <a:rPr lang="en-IN" sz="1800" dirty="0"/>
              <a:t> </a:t>
            </a:r>
            <a:r>
              <a:rPr lang="en-IN" sz="1050" dirty="0"/>
              <a:t>private static void </a:t>
            </a:r>
            <a:r>
              <a:rPr lang="en-IN" sz="1050" dirty="0" err="1"/>
              <a:t>printBanner</a:t>
            </a:r>
            <a:r>
              <a:rPr lang="en-IN" sz="1050" dirty="0"/>
              <a:t>() {</a:t>
            </a:r>
          </a:p>
          <a:p>
            <a:pPr indent="0" algn="l">
              <a:buNone/>
            </a:pPr>
            <a:r>
              <a:rPr lang="en-IN" sz="105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(" STUDENT ACADEMIC &amp; CONTINUOUS EVALUATION SYSTEM"); </a:t>
            </a:r>
            <a:r>
              <a:rPr lang="en-IN" sz="105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("==============================================================");</a:t>
            </a:r>
          </a:p>
          <a:p>
            <a:pPr indent="0" algn="l">
              <a:buNone/>
            </a:pP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}</a:t>
            </a:r>
          </a:p>
          <a:p>
            <a:pPr indent="0" algn="l">
              <a:buNone/>
            </a:pP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private static void </a:t>
            </a:r>
            <a:r>
              <a:rPr lang="en-IN" sz="105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printMainMenu</a:t>
            </a: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() {</a:t>
            </a:r>
          </a:p>
          <a:p>
            <a:pPr indent="0" algn="l">
              <a:buNone/>
            </a:pPr>
            <a:r>
              <a:rPr lang="en-IN" sz="105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("\n1. Student Registration 2. Course </a:t>
            </a:r>
            <a:r>
              <a:rPr lang="en-IN" sz="105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Catalog</a:t>
            </a: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"); </a:t>
            </a:r>
            <a:r>
              <a:rPr lang="en-IN" sz="105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("3. Course </a:t>
            </a:r>
            <a:r>
              <a:rPr lang="en-IN" sz="105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Enrollment</a:t>
            </a:r>
            <a:r>
              <a:rPr lang="en-IN" sz="1050" b="0" i="0" dirty="0">
                <a:solidFill>
                  <a:sysClr val="windowText" lastClr="000000"/>
                </a:solidFill>
                <a:effectLst/>
                <a:latin typeface="ui-monospace"/>
              </a:rPr>
              <a:t> 4. Attendance");</a:t>
            </a:r>
          </a:p>
          <a:p>
            <a:r>
              <a:rPr lang="en-IN" sz="1050" dirty="0" err="1"/>
              <a:t>System.out.println</a:t>
            </a:r>
            <a:r>
              <a:rPr lang="en-IN" sz="1050" dirty="0"/>
              <a:t>("=============================================================="); </a:t>
            </a: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156A1-F60A-DD55-9049-F204E1FDD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" y="1002411"/>
            <a:ext cx="5982218" cy="2255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AACEB-8891-B88F-7AC5-D4CBE5F2D4F1}"/>
              </a:ext>
            </a:extLst>
          </p:cNvPr>
          <p:cNvSpPr txBox="1"/>
          <p:nvPr/>
        </p:nvSpPr>
        <p:spPr>
          <a:xfrm>
            <a:off x="577850" y="316866"/>
            <a:ext cx="6400800" cy="1021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("5. Incremental Marks 6. Mark Sheet / SGPA");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("7. Attendance Defaulters 8. Class Summary");</a:t>
            </a:r>
          </a:p>
          <a:p>
            <a:pPr indent="0" algn="l">
              <a:buNone/>
            </a:pP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("9. View Students and Courses 10. Demo Data");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("0. Exit");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}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private static void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registerStudent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() throws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SQLException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 {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String roll = read("Roll Number: ").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toUpperCase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(); String name = read("Student Name: ");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String dept = read("Department: ").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toUpperCase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(); int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sem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 =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readInt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("Semester (1-8): ");</a:t>
            </a:r>
          </a:p>
          <a:p>
            <a:pPr indent="0" algn="l">
              <a:buNone/>
            </a:pP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studentDAO.addStudent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(roll, name, dept,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sem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);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}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private static void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addCourse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() throws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SQLException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 {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String code = read("Course Code: ").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toUpperCase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(); String title = read("Course Title: ");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double credits =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readDouble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("Credits: ");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System.out.println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("1.THEORY 2.PRACTICAL 3.EMBEDDED");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int choice =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readInt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("Course Type: ");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String type = choice == 2 ? "PRACTICAL" : choice == 3 ? "EMBEDDED" : "THEORY";</a:t>
            </a:r>
          </a:p>
          <a:p>
            <a:pPr indent="0" algn="l">
              <a:buNone/>
            </a:pP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studentDAO.addCourse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(code, title, credits, type);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}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private static void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enrollStudent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() throws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SQLException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 {</a:t>
            </a:r>
          </a:p>
          <a:p>
            <a:pPr indent="0" algn="l">
              <a:buNone/>
            </a:pP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studentDAO.enroll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(read("Roll Number: ").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toUpperCase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(),</a:t>
            </a:r>
          </a:p>
          <a:p>
            <a:pPr indent="0" algn="l">
              <a:buNone/>
            </a:pP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read("Course Code: ").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toUpperCase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(), </a:t>
            </a:r>
            <a:r>
              <a:rPr lang="en-IN" sz="1000" b="0" i="0" dirty="0" err="1">
                <a:solidFill>
                  <a:sysClr val="windowText" lastClr="000000"/>
                </a:solidFill>
                <a:effectLst/>
                <a:latin typeface="ui-monospace"/>
              </a:rPr>
              <a:t>readInt</a:t>
            </a:r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("Semester: "));</a:t>
            </a:r>
          </a:p>
          <a:p>
            <a:r>
              <a:rPr lang="en-IN" sz="1000" b="0" i="0" dirty="0">
                <a:solidFill>
                  <a:sysClr val="windowText" lastClr="000000"/>
                </a:solidFill>
                <a:effectLst/>
                <a:latin typeface="ui-monospace"/>
              </a:rPr>
              <a:t>}</a:t>
            </a:r>
            <a:r>
              <a:rPr lang="en-IN" sz="1800" dirty="0"/>
              <a:t> </a:t>
            </a:r>
            <a:r>
              <a:rPr lang="en-IN" sz="1000" dirty="0"/>
              <a:t>private static void </a:t>
            </a:r>
            <a:r>
              <a:rPr lang="en-IN" sz="1000" dirty="0" err="1"/>
              <a:t>marksMenu</a:t>
            </a:r>
            <a:r>
              <a:rPr lang="en-IN" sz="1000" dirty="0"/>
              <a:t>() throws </a:t>
            </a:r>
            <a:r>
              <a:rPr lang="en-IN" sz="1000" dirty="0" err="1"/>
              <a:t>SQLException</a:t>
            </a:r>
            <a:r>
              <a:rPr lang="en-IN" sz="1000" dirty="0"/>
              <a:t> {</a:t>
            </a:r>
          </a:p>
          <a:p>
            <a:r>
              <a:rPr lang="en-IN" sz="1000" dirty="0" err="1"/>
              <a:t>System.out.println</a:t>
            </a:r>
            <a:r>
              <a:rPr lang="en-IN" sz="1000" dirty="0"/>
              <a:t>("A. CIA Tests B. Assignment/Lab C. ESE"); </a:t>
            </a:r>
            <a:r>
              <a:rPr lang="en-IN" sz="1000" dirty="0" err="1"/>
              <a:t>System.out.println</a:t>
            </a:r>
            <a:r>
              <a:rPr lang="en-IN" sz="1000" dirty="0"/>
              <a:t>("D. Update One Mark E. View Marks");</a:t>
            </a:r>
          </a:p>
          <a:p>
            <a:r>
              <a:rPr lang="en-IN" sz="1000" dirty="0"/>
              <a:t>String opt = read("Select A-E: ").</a:t>
            </a:r>
            <a:r>
              <a:rPr lang="en-IN" sz="1000" dirty="0" err="1"/>
              <a:t>toUpperCase</a:t>
            </a:r>
            <a:r>
              <a:rPr lang="en-IN" sz="1000" dirty="0"/>
              <a:t>(); String roll = read("Roll Number: ").</a:t>
            </a:r>
            <a:r>
              <a:rPr lang="en-IN" sz="1000" dirty="0" err="1"/>
              <a:t>toUpperCase</a:t>
            </a:r>
            <a:r>
              <a:rPr lang="en-IN" sz="1000" dirty="0"/>
              <a:t>();</a:t>
            </a:r>
          </a:p>
          <a:p>
            <a:r>
              <a:rPr lang="en-IN" sz="1000" dirty="0"/>
              <a:t>String code = read("Course Code: ").</a:t>
            </a:r>
            <a:r>
              <a:rPr lang="en-IN" sz="1000" dirty="0" err="1"/>
              <a:t>toUpperCase</a:t>
            </a:r>
            <a:r>
              <a:rPr lang="en-IN" sz="1000" dirty="0"/>
              <a:t>(); int </a:t>
            </a:r>
            <a:r>
              <a:rPr lang="en-IN" sz="1000" dirty="0" err="1"/>
              <a:t>sem</a:t>
            </a:r>
            <a:r>
              <a:rPr lang="en-IN" sz="1000" dirty="0"/>
              <a:t> = </a:t>
            </a:r>
            <a:r>
              <a:rPr lang="en-IN" sz="1000" dirty="0" err="1"/>
              <a:t>readInt</a:t>
            </a:r>
            <a:r>
              <a:rPr lang="en-IN" sz="1000" dirty="0"/>
              <a:t>("Semester: ");</a:t>
            </a:r>
          </a:p>
          <a:p>
            <a:r>
              <a:rPr lang="en-IN" sz="1000" dirty="0"/>
              <a:t>switch (opt) {</a:t>
            </a:r>
          </a:p>
          <a:p>
            <a:r>
              <a:rPr lang="en-IN" sz="1000" dirty="0"/>
              <a:t>case "A":</a:t>
            </a:r>
          </a:p>
          <a:p>
            <a:r>
              <a:rPr lang="en-IN" sz="1000" dirty="0"/>
              <a:t>academicDAO.recordPhase1CIA(roll, code, </a:t>
            </a:r>
            <a:r>
              <a:rPr lang="en-IN" sz="1000" dirty="0" err="1"/>
              <a:t>sem</a:t>
            </a:r>
            <a:r>
              <a:rPr lang="en-IN" sz="1000" dirty="0"/>
              <a:t>,</a:t>
            </a:r>
          </a:p>
          <a:p>
            <a:r>
              <a:rPr lang="en-IN" sz="1000" dirty="0" err="1"/>
              <a:t>readOptionalDouble</a:t>
            </a:r>
            <a:r>
              <a:rPr lang="en-IN" sz="1000" dirty="0"/>
              <a:t>("CIA Test 1 (Enter to skip): "),</a:t>
            </a:r>
          </a:p>
          <a:p>
            <a:r>
              <a:rPr lang="en-IN" sz="1000" dirty="0" err="1"/>
              <a:t>readOptionalDouble</a:t>
            </a:r>
            <a:r>
              <a:rPr lang="en-IN" sz="1000" dirty="0"/>
              <a:t>("CIA Test 2 (Enter to skip): "));</a:t>
            </a:r>
          </a:p>
          <a:p>
            <a:r>
              <a:rPr lang="en-IN" sz="1000" dirty="0"/>
              <a:t>break;</a:t>
            </a:r>
          </a:p>
          <a:p>
            <a:r>
              <a:rPr lang="en-IN" sz="1000" dirty="0"/>
              <a:t>case "B":</a:t>
            </a:r>
          </a:p>
          <a:p>
            <a:r>
              <a:rPr lang="en-IN" sz="1000" dirty="0"/>
              <a:t>academicDAO.recordPhase2Assignment(roll, code, </a:t>
            </a:r>
            <a:r>
              <a:rPr lang="en-IN" sz="1000" dirty="0" err="1"/>
              <a:t>sem</a:t>
            </a:r>
            <a:r>
              <a:rPr lang="en-IN" sz="1000" dirty="0"/>
              <a:t>,</a:t>
            </a:r>
          </a:p>
          <a:p>
            <a:r>
              <a:rPr lang="en-IN" sz="1000" dirty="0" err="1"/>
              <a:t>readOptionalDouble</a:t>
            </a:r>
            <a:r>
              <a:rPr lang="en-IN" sz="1000" dirty="0"/>
              <a:t>("Assignment/Lab mark: "));</a:t>
            </a:r>
          </a:p>
          <a:p>
            <a:r>
              <a:rPr lang="en-IN" sz="1000" dirty="0"/>
              <a:t>break;</a:t>
            </a:r>
          </a:p>
          <a:p>
            <a:r>
              <a:rPr lang="en-IN" sz="1000" dirty="0"/>
              <a:t>case "C":</a:t>
            </a:r>
          </a:p>
          <a:p>
            <a:r>
              <a:rPr lang="en-IN" sz="1000" dirty="0" err="1"/>
              <a:t>boolean</a:t>
            </a:r>
            <a:r>
              <a:rPr lang="en-IN" sz="1000" dirty="0"/>
              <a:t> absent = </a:t>
            </a:r>
            <a:r>
              <a:rPr lang="en-IN" sz="1000" dirty="0" err="1"/>
              <a:t>yesNo</a:t>
            </a:r>
            <a:r>
              <a:rPr lang="en-IN" sz="1000" dirty="0"/>
              <a:t>("Absent in ESE? (y/n): ");</a:t>
            </a:r>
          </a:p>
          <a:p>
            <a:r>
              <a:rPr lang="en-IN" sz="1000" dirty="0"/>
              <a:t>Double ese = absent ? null : </a:t>
            </a:r>
            <a:r>
              <a:rPr lang="en-IN" sz="1000" dirty="0" err="1"/>
              <a:t>readOptionalDouble</a:t>
            </a:r>
            <a:r>
              <a:rPr lang="en-IN" sz="1000" dirty="0"/>
              <a:t>("ESE mark: ");</a:t>
            </a:r>
          </a:p>
          <a:p>
            <a:r>
              <a:rPr lang="en-IN" sz="1000" dirty="0"/>
              <a:t>academicDAO.recordPhase3ESE(roll, code, </a:t>
            </a:r>
            <a:r>
              <a:rPr lang="en-IN" sz="1000" dirty="0" err="1"/>
              <a:t>sem</a:t>
            </a:r>
            <a:r>
              <a:rPr lang="en-IN" sz="1000" dirty="0"/>
              <a:t>, ese, absent);</a:t>
            </a:r>
          </a:p>
          <a:p>
            <a:r>
              <a:rPr lang="en-IN" sz="1000" dirty="0"/>
              <a:t>break;</a:t>
            </a:r>
          </a:p>
          <a:p>
            <a:r>
              <a:rPr lang="en-IN" sz="1000" dirty="0"/>
              <a:t>case "D":</a:t>
            </a:r>
          </a:p>
          <a:p>
            <a:r>
              <a:rPr lang="en-IN" sz="1000" dirty="0"/>
              <a:t>String component = read("Component (CIA1/CIA2/ASSIGNMENT/ESE): ").</a:t>
            </a:r>
            <a:r>
              <a:rPr lang="en-IN" sz="1000" dirty="0" err="1"/>
              <a:t>toUpperCase</a:t>
            </a:r>
            <a:r>
              <a:rPr lang="en-IN" sz="1000" dirty="0"/>
              <a:t>();</a:t>
            </a:r>
          </a:p>
          <a:p>
            <a:r>
              <a:rPr lang="en-IN" sz="1000" dirty="0" err="1"/>
              <a:t>boolean</a:t>
            </a:r>
            <a:r>
              <a:rPr lang="en-IN" sz="1000" dirty="0"/>
              <a:t> </a:t>
            </a:r>
            <a:r>
              <a:rPr lang="en-IN" sz="1000" dirty="0" err="1"/>
              <a:t>isAbsent</a:t>
            </a:r>
            <a:r>
              <a:rPr lang="en-IN" sz="1000" dirty="0"/>
              <a:t> = </a:t>
            </a:r>
            <a:r>
              <a:rPr lang="en-IN" sz="1000" dirty="0" err="1"/>
              <a:t>component.equals</a:t>
            </a:r>
            <a:r>
              <a:rPr lang="en-IN" sz="1000" dirty="0"/>
              <a:t>("ESE") &amp;&amp; </a:t>
            </a:r>
            <a:r>
              <a:rPr lang="en-IN" sz="1000" dirty="0" err="1"/>
              <a:t>yesNo</a:t>
            </a:r>
            <a:r>
              <a:rPr lang="en-IN" sz="1000" dirty="0"/>
              <a:t>("Absent? (y/n): ");</a:t>
            </a:r>
          </a:p>
          <a:p>
            <a:r>
              <a:rPr lang="en-IN" sz="1000" dirty="0"/>
              <a:t>Double mark = </a:t>
            </a:r>
            <a:r>
              <a:rPr lang="en-IN" sz="1000" dirty="0" err="1"/>
              <a:t>isAbsent</a:t>
            </a:r>
            <a:r>
              <a:rPr lang="en-IN" sz="1000" dirty="0"/>
              <a:t> ? null : </a:t>
            </a:r>
            <a:r>
              <a:rPr lang="en-IN" sz="1000" dirty="0" err="1"/>
              <a:t>readOptionalDouble</a:t>
            </a:r>
            <a:r>
              <a:rPr lang="en-IN" sz="1000" dirty="0"/>
              <a:t>("Mark: ");</a:t>
            </a:r>
          </a:p>
          <a:p>
            <a:r>
              <a:rPr lang="en-IN" sz="1000" dirty="0" err="1"/>
              <a:t>academicDAO.updateSingleAssessment</a:t>
            </a:r>
            <a:r>
              <a:rPr lang="en-IN" sz="1000" dirty="0"/>
              <a:t>(roll, code, </a:t>
            </a:r>
            <a:r>
              <a:rPr lang="en-IN" sz="1000" dirty="0" err="1"/>
              <a:t>sem</a:t>
            </a:r>
            <a:r>
              <a:rPr lang="en-IN" sz="1000" dirty="0"/>
              <a:t>, component, mark, </a:t>
            </a:r>
            <a:r>
              <a:rPr lang="en-IN" sz="1000" dirty="0" err="1"/>
              <a:t>isAbsent</a:t>
            </a:r>
            <a:r>
              <a:rPr lang="en-IN" sz="1000" dirty="0"/>
              <a:t>);</a:t>
            </a:r>
          </a:p>
          <a:p>
            <a:r>
              <a:rPr lang="en-IN" sz="1000" dirty="0"/>
              <a:t>break;</a:t>
            </a:r>
          </a:p>
          <a:p>
            <a:r>
              <a:rPr lang="en-IN" sz="1000" dirty="0"/>
              <a:t>case "E":</a:t>
            </a:r>
          </a:p>
          <a:p>
            <a:r>
              <a:rPr lang="en-IN" sz="1000" dirty="0" err="1"/>
              <a:t>showMarks</a:t>
            </a:r>
            <a:r>
              <a:rPr lang="en-IN" sz="1000" dirty="0"/>
              <a:t>(roll, code, </a:t>
            </a:r>
            <a:r>
              <a:rPr lang="en-IN" sz="1000" dirty="0" err="1"/>
              <a:t>sem</a:t>
            </a:r>
            <a:r>
              <a:rPr lang="en-IN" sz="1000" dirty="0"/>
              <a:t>);</a:t>
            </a:r>
          </a:p>
          <a:p>
            <a:r>
              <a:rPr lang="en-IN" sz="1000" dirty="0"/>
              <a:t>break;</a:t>
            </a:r>
          </a:p>
          <a:p>
            <a:r>
              <a:rPr lang="en-IN" sz="1000" dirty="0"/>
              <a:t>default: </a:t>
            </a:r>
            <a:r>
              <a:rPr lang="en-IN" sz="1000" dirty="0" err="1"/>
              <a:t>System.out.println</a:t>
            </a:r>
            <a:r>
              <a:rPr lang="en-IN" sz="1000" dirty="0"/>
              <a:t>("Invalid selection.");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void </a:t>
            </a:r>
            <a:r>
              <a:rPr lang="en-IN" sz="1000" dirty="0" err="1"/>
              <a:t>showMarks</a:t>
            </a:r>
            <a:r>
              <a:rPr lang="en-IN" sz="1000" dirty="0"/>
              <a:t>(String roll, String code, int </a:t>
            </a:r>
            <a:r>
              <a:rPr lang="en-IN" sz="1000" dirty="0" err="1"/>
              <a:t>sem</a:t>
            </a:r>
            <a:r>
              <a:rPr lang="en-IN" sz="1000" dirty="0"/>
              <a:t>) throws </a:t>
            </a:r>
            <a:r>
              <a:rPr lang="en-IN" sz="1000" dirty="0" err="1"/>
              <a:t>SQLException</a:t>
            </a:r>
            <a:r>
              <a:rPr lang="en-IN" sz="1000" dirty="0"/>
              <a:t> {</a:t>
            </a:r>
          </a:p>
          <a:p>
            <a:r>
              <a:rPr lang="en-IN" sz="1000" dirty="0" err="1"/>
              <a:t>AcademicDAO.EnrollmentInfo</a:t>
            </a:r>
            <a:r>
              <a:rPr lang="en-IN" sz="1000" dirty="0"/>
              <a:t> </a:t>
            </a:r>
            <a:r>
              <a:rPr lang="en-IN" sz="1000" dirty="0" err="1"/>
              <a:t>i</a:t>
            </a:r>
            <a:r>
              <a:rPr lang="en-IN" sz="1000" dirty="0"/>
              <a:t> = </a:t>
            </a:r>
            <a:r>
              <a:rPr lang="en-IN" sz="1000" dirty="0" err="1"/>
              <a:t>academicDAO.getEnrollmentDetails</a:t>
            </a:r>
            <a:r>
              <a:rPr lang="en-IN" sz="1000" dirty="0"/>
              <a:t>(roll, code, </a:t>
            </a:r>
            <a:r>
              <a:rPr lang="en-IN" sz="1000" dirty="0" err="1"/>
              <a:t>sem</a:t>
            </a:r>
            <a:r>
              <a:rPr lang="en-IN" sz="1000" dirty="0"/>
              <a:t>);</a:t>
            </a:r>
          </a:p>
          <a:p>
            <a:r>
              <a:rPr lang="en-IN" sz="1000" dirty="0"/>
              <a:t>if (</a:t>
            </a:r>
            <a:r>
              <a:rPr lang="en-IN" sz="1000" dirty="0" err="1"/>
              <a:t>i</a:t>
            </a:r>
            <a:r>
              <a:rPr lang="en-IN" sz="1000" dirty="0"/>
              <a:t> == null) { </a:t>
            </a:r>
            <a:r>
              <a:rPr lang="en-IN" sz="1000" dirty="0" err="1"/>
              <a:t>System.out.println</a:t>
            </a:r>
            <a:r>
              <a:rPr lang="en-IN" sz="1000" dirty="0"/>
              <a:t>("No </a:t>
            </a:r>
            <a:r>
              <a:rPr lang="en-IN" sz="1000" dirty="0" err="1"/>
              <a:t>enrollment</a:t>
            </a:r>
            <a:r>
              <a:rPr lang="en-IN" sz="1000" dirty="0"/>
              <a:t> record found."); return; }</a:t>
            </a:r>
          </a:p>
          <a:p>
            <a:r>
              <a:rPr lang="en-IN" sz="1000" dirty="0" err="1"/>
              <a:t>System.out.printf</a:t>
            </a:r>
            <a:r>
              <a:rPr lang="en-IN" sz="1000" dirty="0"/>
              <a:t>("Student: %s (%s), Dept: %s, Sem: %</a:t>
            </a:r>
            <a:r>
              <a:rPr lang="en-IN" sz="1000" dirty="0" err="1"/>
              <a:t>d%n</a:t>
            </a:r>
            <a:r>
              <a:rPr lang="en-IN" sz="1000" dirty="0"/>
              <a:t>", </a:t>
            </a:r>
            <a:r>
              <a:rPr lang="en-IN" sz="1000" dirty="0" err="1"/>
              <a:t>i.studentName</a:t>
            </a:r>
            <a:r>
              <a:rPr lang="en-IN" sz="1000" dirty="0"/>
              <a:t>, </a:t>
            </a:r>
            <a:r>
              <a:rPr lang="en-IN" sz="1000" dirty="0" err="1"/>
              <a:t>i.rollNo</a:t>
            </a:r>
            <a:r>
              <a:rPr lang="en-IN" sz="1000" dirty="0"/>
              <a:t>, </a:t>
            </a:r>
            <a:r>
              <a:rPr lang="en-IN" sz="1000" dirty="0" err="1"/>
              <a:t>i.department</a:t>
            </a:r>
            <a:r>
              <a:rPr lang="en-IN" sz="1000" dirty="0"/>
              <a:t>, </a:t>
            </a:r>
            <a:r>
              <a:rPr lang="en-IN" sz="1000" dirty="0" err="1"/>
              <a:t>i.semester</a:t>
            </a:r>
            <a:r>
              <a:rPr lang="en-IN" sz="1000" dirty="0"/>
              <a:t>);</a:t>
            </a:r>
          </a:p>
          <a:p>
            <a:r>
              <a:rPr lang="en-IN" sz="1000" dirty="0" err="1"/>
              <a:t>System.out.printf</a:t>
            </a:r>
            <a:r>
              <a:rPr lang="en-IN" sz="1000" dirty="0"/>
              <a:t>("Course: %s - %s (%s, %.1f credits)%n", </a:t>
            </a:r>
            <a:r>
              <a:rPr lang="en-IN" sz="1000" dirty="0" err="1"/>
              <a:t>i.courseCode</a:t>
            </a:r>
            <a:r>
              <a:rPr lang="en-IN" sz="1000" dirty="0"/>
              <a:t>, </a:t>
            </a:r>
            <a:r>
              <a:rPr lang="en-IN" sz="1000" dirty="0" err="1"/>
              <a:t>i.courseTitle</a:t>
            </a:r>
            <a:r>
              <a:rPr lang="en-IN" sz="1000" dirty="0"/>
              <a:t>, </a:t>
            </a:r>
            <a:r>
              <a:rPr lang="en-IN" sz="1000" dirty="0" err="1"/>
              <a:t>i.courseType</a:t>
            </a:r>
            <a:r>
              <a:rPr lang="en-IN" sz="1000" dirty="0"/>
              <a:t>, </a:t>
            </a:r>
            <a:r>
              <a:rPr lang="en-IN" sz="1000" dirty="0" err="1"/>
              <a:t>i.credits</a:t>
            </a:r>
            <a:r>
              <a:rPr lang="en-IN" sz="1000" dirty="0"/>
              <a:t>);</a:t>
            </a:r>
          </a:p>
          <a:p>
            <a:r>
              <a:rPr lang="en-IN" sz="1000" dirty="0" err="1"/>
              <a:t>System.out.printf</a:t>
            </a:r>
            <a:r>
              <a:rPr lang="en-IN" sz="1000" dirty="0"/>
              <a:t>("Attendance: %d/%d (%.2f%%) Status: %</a:t>
            </a:r>
            <a:r>
              <a:rPr lang="en-IN" sz="1000" dirty="0" err="1"/>
              <a:t>s%n</a:t>
            </a:r>
            <a:r>
              <a:rPr lang="en-IN" sz="1000" dirty="0"/>
              <a:t>", </a:t>
            </a:r>
            <a:r>
              <a:rPr lang="en-IN" sz="1000" dirty="0" err="1"/>
              <a:t>i.classesAttended</a:t>
            </a:r>
            <a:r>
              <a:rPr lang="en-IN" sz="1000" dirty="0"/>
              <a:t>, </a:t>
            </a:r>
            <a:r>
              <a:rPr lang="en-IN" sz="1000" dirty="0" err="1"/>
              <a:t>i.totalClasses</a:t>
            </a:r>
            <a:r>
              <a:rPr lang="en-IN" sz="1000" dirty="0"/>
              <a:t>, </a:t>
            </a:r>
            <a:r>
              <a:rPr lang="en-IN" sz="1000" dirty="0" err="1"/>
              <a:t>i.attendancePct</a:t>
            </a:r>
            <a:r>
              <a:rPr lang="en-IN" sz="1000" dirty="0"/>
              <a:t>, </a:t>
            </a:r>
            <a:r>
              <a:rPr lang="en-IN" sz="1000" dirty="0" err="1"/>
              <a:t>i.attendanceStatus</a:t>
            </a:r>
            <a:r>
              <a:rPr lang="en-IN" sz="1000" dirty="0"/>
              <a:t>);</a:t>
            </a:r>
          </a:p>
          <a:p>
            <a:r>
              <a:rPr lang="en-IN" sz="1000" dirty="0" err="1"/>
              <a:t>System.out.printf</a:t>
            </a:r>
            <a:r>
              <a:rPr lang="en-IN" sz="1000" dirty="0"/>
              <a:t>("CIA1: %s | CIA2: %s | Assignment: %s | CIA </a:t>
            </a:r>
            <a:r>
              <a:rPr lang="en-IN" sz="1000" dirty="0" err="1"/>
              <a:t>Avg</a:t>
            </a:r>
            <a:r>
              <a:rPr lang="en-IN" sz="1000" dirty="0"/>
              <a:t>: %.2f%n",</a:t>
            </a:r>
          </a:p>
          <a:p>
            <a:r>
              <a:rPr lang="en-IN" sz="1000" dirty="0"/>
              <a:t>value(i.cia1), value(i.cia2), value(</a:t>
            </a:r>
            <a:r>
              <a:rPr lang="en-IN" sz="1000" dirty="0" err="1"/>
              <a:t>i.assignmentMark</a:t>
            </a:r>
            <a:r>
              <a:rPr lang="en-IN" sz="1000" dirty="0"/>
              <a:t>), </a:t>
            </a:r>
            <a:r>
              <a:rPr lang="en-IN" sz="1000" dirty="0" err="1"/>
              <a:t>i.ciaRaw</a:t>
            </a:r>
            <a:r>
              <a:rPr lang="en-IN" sz="1000" dirty="0"/>
              <a:t>);</a:t>
            </a:r>
          </a:p>
          <a:p>
            <a:r>
              <a:rPr lang="en-IN" sz="1000" dirty="0" err="1"/>
              <a:t>System.out.printf</a:t>
            </a:r>
            <a:r>
              <a:rPr lang="en-IN" sz="1000" dirty="0"/>
              <a:t>("ESE: %s | Absent: %s | Grade: %s | GP: %d | Result: %</a:t>
            </a:r>
            <a:r>
              <a:rPr lang="en-IN" sz="1000" dirty="0" err="1"/>
              <a:t>s%n</a:t>
            </a:r>
            <a:r>
              <a:rPr lang="en-IN" sz="1000" dirty="0"/>
              <a:t>",</a:t>
            </a:r>
          </a:p>
          <a:p>
            <a:r>
              <a:rPr lang="en-IN" sz="1000" dirty="0"/>
              <a:t>value(</a:t>
            </a:r>
            <a:r>
              <a:rPr lang="en-IN" sz="1000" dirty="0" err="1"/>
              <a:t>i.eseMark</a:t>
            </a:r>
            <a:r>
              <a:rPr lang="en-IN" sz="1000" dirty="0"/>
              <a:t>), </a:t>
            </a:r>
            <a:r>
              <a:rPr lang="en-IN" sz="1000" dirty="0" err="1"/>
              <a:t>i.eseAbsent</a:t>
            </a:r>
            <a:r>
              <a:rPr lang="en-IN" sz="1000" dirty="0"/>
              <a:t> ? "YES" : "NO", </a:t>
            </a:r>
            <a:r>
              <a:rPr lang="en-IN" sz="1000" dirty="0" err="1"/>
              <a:t>i.grade</a:t>
            </a:r>
            <a:r>
              <a:rPr lang="en-IN" sz="1000" dirty="0"/>
              <a:t>, </a:t>
            </a:r>
            <a:r>
              <a:rPr lang="en-IN" sz="1000" dirty="0" err="1"/>
              <a:t>i.gradePoint</a:t>
            </a:r>
            <a:r>
              <a:rPr lang="en-IN" sz="1000" dirty="0"/>
              <a:t>, </a:t>
            </a:r>
            <a:r>
              <a:rPr lang="en-IN" sz="1000" dirty="0" err="1"/>
              <a:t>i.resultStatus</a:t>
            </a:r>
            <a:r>
              <a:rPr lang="en-IN" sz="1000" dirty="0"/>
              <a:t>);</a:t>
            </a:r>
          </a:p>
          <a:p>
            <a:r>
              <a:rPr lang="en-IN" sz="1000" dirty="0"/>
              <a:t>}</a:t>
            </a:r>
          </a:p>
          <a:p>
            <a:pPr indent="0" algn="l">
              <a:buNone/>
            </a:pPr>
            <a:endParaRPr lang="en-IN" sz="1000" b="0" i="0" dirty="0">
              <a:solidFill>
                <a:srgbClr val="0D0D0D"/>
              </a:solidFill>
              <a:effectLst/>
              <a:latin typeface="ui-monospac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10DCB-9A7C-08E2-0A1C-68D456AE3367}"/>
              </a:ext>
            </a:extLst>
          </p:cNvPr>
          <p:cNvSpPr txBox="1"/>
          <p:nvPr/>
        </p:nvSpPr>
        <p:spPr>
          <a:xfrm>
            <a:off x="577850" y="698500"/>
            <a:ext cx="5816016" cy="7632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private static String value(Double n) { return n == null ? "--" : </a:t>
            </a:r>
            <a:r>
              <a:rPr lang="en-IN" sz="1000" dirty="0" err="1"/>
              <a:t>String.format</a:t>
            </a:r>
            <a:r>
              <a:rPr lang="en-IN" sz="1000" dirty="0"/>
              <a:t>("%.2f", n); }</a:t>
            </a:r>
          </a:p>
          <a:p>
            <a:r>
              <a:rPr lang="en-IN" sz="1000" dirty="0"/>
              <a:t>private static void </a:t>
            </a:r>
            <a:r>
              <a:rPr lang="en-IN" sz="1000" dirty="0" err="1"/>
              <a:t>markSheet</a:t>
            </a:r>
            <a:r>
              <a:rPr lang="en-IN" sz="1000" dirty="0"/>
              <a:t>() throws </a:t>
            </a:r>
            <a:r>
              <a:rPr lang="en-IN" sz="1000" dirty="0" err="1"/>
              <a:t>SQLException</a:t>
            </a:r>
            <a:r>
              <a:rPr lang="en-IN" sz="1000" dirty="0"/>
              <a:t> {</a:t>
            </a:r>
          </a:p>
          <a:p>
            <a:r>
              <a:rPr lang="en-IN" sz="1000" dirty="0" err="1"/>
              <a:t>academicDAO.printStudentMarkSheet</a:t>
            </a:r>
            <a:r>
              <a:rPr lang="en-IN" sz="1000" dirty="0"/>
              <a:t>(read("Roll Number: ").</a:t>
            </a:r>
            <a:r>
              <a:rPr lang="en-IN" sz="1000" dirty="0" err="1"/>
              <a:t>toUpperCase</a:t>
            </a:r>
            <a:r>
              <a:rPr lang="en-IN" sz="1000" dirty="0"/>
              <a:t>(), </a:t>
            </a:r>
            <a:r>
              <a:rPr lang="en-IN" sz="1000" dirty="0" err="1"/>
              <a:t>readInt</a:t>
            </a:r>
            <a:r>
              <a:rPr lang="en-IN" sz="1000" dirty="0"/>
              <a:t>("Semester: "));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void </a:t>
            </a:r>
            <a:r>
              <a:rPr lang="en-IN" sz="1000" dirty="0" err="1"/>
              <a:t>classSummary</a:t>
            </a:r>
            <a:r>
              <a:rPr lang="en-IN" sz="1000" dirty="0"/>
              <a:t>() throws </a:t>
            </a:r>
            <a:r>
              <a:rPr lang="en-IN" sz="1000" dirty="0" err="1"/>
              <a:t>SQLException</a:t>
            </a:r>
            <a:r>
              <a:rPr lang="en-IN" sz="1000" dirty="0"/>
              <a:t> {</a:t>
            </a:r>
          </a:p>
          <a:p>
            <a:r>
              <a:rPr lang="en-IN" sz="1000" dirty="0" err="1"/>
              <a:t>academicDAO.printClassPerformanceSummary</a:t>
            </a:r>
            <a:r>
              <a:rPr lang="en-IN" sz="1000" dirty="0"/>
              <a:t>(</a:t>
            </a:r>
            <a:r>
              <a:rPr lang="en-IN" sz="1000" dirty="0" err="1"/>
              <a:t>readInt</a:t>
            </a:r>
            <a:r>
              <a:rPr lang="en-IN" sz="1000" dirty="0"/>
              <a:t>("Semester to summarize (1-8): "));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void </a:t>
            </a:r>
            <a:r>
              <a:rPr lang="en-IN" sz="1000" dirty="0" err="1"/>
              <a:t>seedData</a:t>
            </a:r>
            <a:r>
              <a:rPr lang="en-IN" sz="1000" dirty="0"/>
              <a:t>() throws </a:t>
            </a:r>
            <a:r>
              <a:rPr lang="en-IN" sz="1000" dirty="0" err="1"/>
              <a:t>SQLException</a:t>
            </a:r>
            <a:r>
              <a:rPr lang="en-IN" sz="1000" dirty="0"/>
              <a:t> {</a:t>
            </a:r>
          </a:p>
          <a:p>
            <a:r>
              <a:rPr lang="en-IN" sz="1000" dirty="0"/>
              <a:t>if (</a:t>
            </a:r>
            <a:r>
              <a:rPr lang="en-IN" sz="1000" dirty="0" err="1"/>
              <a:t>yesNo</a:t>
            </a:r>
            <a:r>
              <a:rPr lang="en-IN" sz="1000" dirty="0"/>
              <a:t>("Insert sample students, courses, </a:t>
            </a:r>
            <a:r>
              <a:rPr lang="en-IN" sz="1000" dirty="0" err="1"/>
              <a:t>enrollments</a:t>
            </a:r>
            <a:r>
              <a:rPr lang="en-IN" sz="1000" dirty="0"/>
              <a:t> and marks? (y/n): "))</a:t>
            </a:r>
          </a:p>
          <a:p>
            <a:r>
              <a:rPr lang="en-IN" sz="1000" dirty="0" err="1"/>
              <a:t>academicDAO.seedDemoData</a:t>
            </a:r>
            <a:r>
              <a:rPr lang="en-IN" sz="1000" dirty="0"/>
              <a:t>();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String read(String prompt) {</a:t>
            </a:r>
          </a:p>
          <a:p>
            <a:r>
              <a:rPr lang="en-IN" sz="1000" dirty="0" err="1"/>
              <a:t>System.out.print</a:t>
            </a:r>
            <a:r>
              <a:rPr lang="en-IN" sz="1000" dirty="0"/>
              <a:t>(prompt); return </a:t>
            </a:r>
            <a:r>
              <a:rPr lang="en-IN" sz="1000" dirty="0" err="1"/>
              <a:t>sc.nextLine</a:t>
            </a:r>
            <a:r>
              <a:rPr lang="en-IN" sz="1000" dirty="0"/>
              <a:t>().trim();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int </a:t>
            </a:r>
            <a:r>
              <a:rPr lang="en-IN" sz="1000" dirty="0" err="1"/>
              <a:t>readInt</a:t>
            </a:r>
            <a:r>
              <a:rPr lang="en-IN" sz="1000" dirty="0"/>
              <a:t>(String prompt) {</a:t>
            </a:r>
          </a:p>
          <a:p>
            <a:r>
              <a:rPr lang="en-IN" sz="1000" dirty="0"/>
              <a:t>while (true) {</a:t>
            </a:r>
          </a:p>
          <a:p>
            <a:r>
              <a:rPr lang="en-IN" sz="1000" dirty="0"/>
              <a:t>try { return </a:t>
            </a:r>
            <a:r>
              <a:rPr lang="en-IN" sz="1000" dirty="0" err="1"/>
              <a:t>Integer.parseInt</a:t>
            </a:r>
            <a:r>
              <a:rPr lang="en-IN" sz="1000" dirty="0"/>
              <a:t>(read(prompt)); }</a:t>
            </a:r>
          </a:p>
          <a:p>
            <a:r>
              <a:rPr lang="en-IN" sz="1000" dirty="0"/>
              <a:t>catch (</a:t>
            </a:r>
            <a:r>
              <a:rPr lang="en-IN" sz="1000" dirty="0" err="1"/>
              <a:t>NumberFormatException</a:t>
            </a:r>
            <a:r>
              <a:rPr lang="en-IN" sz="1000" dirty="0"/>
              <a:t> e) { </a:t>
            </a:r>
            <a:r>
              <a:rPr lang="en-IN" sz="1000" dirty="0" err="1"/>
              <a:t>System.out.println</a:t>
            </a:r>
            <a:r>
              <a:rPr lang="en-IN" sz="1000" dirty="0"/>
              <a:t>("Enter a valid whole number."); }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double </a:t>
            </a:r>
            <a:r>
              <a:rPr lang="en-IN" sz="1000" dirty="0" err="1"/>
              <a:t>readDouble</a:t>
            </a:r>
            <a:r>
              <a:rPr lang="en-IN" sz="1000" dirty="0"/>
              <a:t>(String prompt) {</a:t>
            </a:r>
          </a:p>
          <a:p>
            <a:r>
              <a:rPr lang="en-IN" sz="1000" dirty="0"/>
              <a:t>while (true) {</a:t>
            </a:r>
          </a:p>
          <a:p>
            <a:r>
              <a:rPr lang="en-IN" sz="1000" dirty="0"/>
              <a:t>try { return </a:t>
            </a:r>
            <a:r>
              <a:rPr lang="en-IN" sz="1000" dirty="0" err="1"/>
              <a:t>Double.parseDouble</a:t>
            </a:r>
            <a:r>
              <a:rPr lang="en-IN" sz="1000" dirty="0"/>
              <a:t>(read(prompt)); }</a:t>
            </a:r>
          </a:p>
          <a:p>
            <a:r>
              <a:rPr lang="en-IN" sz="1000" dirty="0"/>
              <a:t>catch (</a:t>
            </a:r>
            <a:r>
              <a:rPr lang="en-IN" sz="1000" dirty="0" err="1"/>
              <a:t>NumberFormatException</a:t>
            </a:r>
            <a:r>
              <a:rPr lang="en-IN" sz="1000" dirty="0"/>
              <a:t> e) { </a:t>
            </a:r>
            <a:r>
              <a:rPr lang="en-IN" sz="1000" dirty="0" err="1"/>
              <a:t>System.out.println</a:t>
            </a:r>
            <a:r>
              <a:rPr lang="en-IN" sz="1000" dirty="0"/>
              <a:t>("Enter a valid number."); }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Double </a:t>
            </a:r>
            <a:r>
              <a:rPr lang="en-IN" sz="1000" dirty="0" err="1"/>
              <a:t>readOptionalDouble</a:t>
            </a:r>
            <a:r>
              <a:rPr lang="en-IN" sz="1000" dirty="0"/>
              <a:t>(String prompt) {</a:t>
            </a:r>
          </a:p>
          <a:p>
            <a:r>
              <a:rPr lang="en-IN" sz="1000" dirty="0"/>
              <a:t>while (true) {</a:t>
            </a:r>
          </a:p>
          <a:p>
            <a:r>
              <a:rPr lang="en-IN" sz="1000" dirty="0"/>
              <a:t>String s = read(prompt);</a:t>
            </a:r>
          </a:p>
          <a:p>
            <a:r>
              <a:rPr lang="en-IN" sz="1000" dirty="0"/>
              <a:t>if (</a:t>
            </a:r>
            <a:r>
              <a:rPr lang="en-IN" sz="1000" dirty="0" err="1"/>
              <a:t>s.isEmpty</a:t>
            </a:r>
            <a:r>
              <a:rPr lang="en-IN" sz="1000" dirty="0"/>
              <a:t>()) return null;</a:t>
            </a:r>
          </a:p>
          <a:p>
            <a:r>
              <a:rPr lang="en-IN" sz="1000" dirty="0"/>
              <a:t>try { return </a:t>
            </a:r>
            <a:r>
              <a:rPr lang="en-IN" sz="1000" dirty="0" err="1"/>
              <a:t>Double.parseDouble</a:t>
            </a:r>
            <a:r>
              <a:rPr lang="en-IN" sz="1000" dirty="0"/>
              <a:t>(s); }</a:t>
            </a:r>
          </a:p>
          <a:p>
            <a:r>
              <a:rPr lang="en-IN" sz="1000" dirty="0"/>
              <a:t>catch (</a:t>
            </a:r>
            <a:r>
              <a:rPr lang="en-IN" sz="1000" dirty="0" err="1"/>
              <a:t>NumberFormatException</a:t>
            </a:r>
            <a:r>
              <a:rPr lang="en-IN" sz="1000" dirty="0"/>
              <a:t> e) { </a:t>
            </a:r>
            <a:r>
              <a:rPr lang="en-IN" sz="1000" dirty="0" err="1"/>
              <a:t>System.out.println</a:t>
            </a:r>
            <a:r>
              <a:rPr lang="en-IN" sz="1000" dirty="0"/>
              <a:t>("Enter a number or press Enter to skip."); }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</a:t>
            </a:r>
            <a:r>
              <a:rPr lang="en-IN" sz="1000" dirty="0" err="1"/>
              <a:t>boolean</a:t>
            </a:r>
            <a:r>
              <a:rPr lang="en-IN" sz="1000" dirty="0"/>
              <a:t> </a:t>
            </a:r>
            <a:r>
              <a:rPr lang="en-IN" sz="1000" dirty="0" err="1"/>
              <a:t>yesNo</a:t>
            </a:r>
            <a:r>
              <a:rPr lang="en-IN" sz="1000" dirty="0"/>
              <a:t>(String prompt) {</a:t>
            </a:r>
          </a:p>
          <a:p>
            <a:r>
              <a:rPr lang="en-IN" sz="1000" dirty="0"/>
              <a:t>while (true) {</a:t>
            </a:r>
          </a:p>
          <a:p>
            <a:r>
              <a:rPr lang="en-IN" sz="1000" dirty="0"/>
              <a:t>String s = read(prompt).</a:t>
            </a:r>
            <a:r>
              <a:rPr lang="en-IN" sz="1000" dirty="0" err="1"/>
              <a:t>toLowerCase</a:t>
            </a:r>
            <a:r>
              <a:rPr lang="en-IN" sz="1000" dirty="0"/>
              <a:t>();</a:t>
            </a:r>
          </a:p>
          <a:p>
            <a:r>
              <a:rPr lang="en-IN" sz="1000" dirty="0"/>
              <a:t>if (</a:t>
            </a:r>
            <a:r>
              <a:rPr lang="en-IN" sz="1000" dirty="0" err="1"/>
              <a:t>s.equals</a:t>
            </a:r>
            <a:r>
              <a:rPr lang="en-IN" sz="1000" dirty="0"/>
              <a:t>("y") || </a:t>
            </a:r>
            <a:r>
              <a:rPr lang="en-IN" sz="1000" dirty="0" err="1"/>
              <a:t>s.equals</a:t>
            </a:r>
            <a:r>
              <a:rPr lang="en-IN" sz="1000" dirty="0"/>
              <a:t>("yes")) return true;</a:t>
            </a:r>
          </a:p>
          <a:p>
            <a:r>
              <a:rPr lang="en-IN" sz="1000" dirty="0"/>
              <a:t>if (</a:t>
            </a:r>
            <a:r>
              <a:rPr lang="en-IN" sz="1000" dirty="0" err="1"/>
              <a:t>s.equals</a:t>
            </a:r>
            <a:r>
              <a:rPr lang="en-IN" sz="1000" dirty="0"/>
              <a:t>("n") || </a:t>
            </a:r>
            <a:r>
              <a:rPr lang="en-IN" sz="1000" dirty="0" err="1"/>
              <a:t>s.equals</a:t>
            </a:r>
            <a:r>
              <a:rPr lang="en-IN" sz="1000" dirty="0"/>
              <a:t>("no")) return false;</a:t>
            </a:r>
          </a:p>
          <a:p>
            <a:r>
              <a:rPr lang="en-IN" sz="1000" dirty="0" err="1"/>
              <a:t>System.out.println</a:t>
            </a:r>
            <a:r>
              <a:rPr lang="en-IN" sz="1000" dirty="0"/>
              <a:t>("Enter y or n.");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private static void pause() {</a:t>
            </a:r>
          </a:p>
          <a:p>
            <a:r>
              <a:rPr lang="en-IN" sz="1000" dirty="0" err="1"/>
              <a:t>System.out.print</a:t>
            </a:r>
            <a:r>
              <a:rPr lang="en-IN" sz="1000" dirty="0"/>
              <a:t>("Press Enter to return to menu...");</a:t>
            </a:r>
          </a:p>
          <a:p>
            <a:r>
              <a:rPr lang="en-IN" sz="1000" dirty="0" err="1"/>
              <a:t>sc.nextLine</a:t>
            </a:r>
            <a:r>
              <a:rPr lang="en-IN" sz="1000" dirty="0"/>
              <a:t>();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}</a:t>
            </a:r>
          </a:p>
          <a:p>
            <a:br>
              <a:rPr lang="en-IN" sz="1000" dirty="0"/>
            </a:br>
            <a:endParaRPr lang="en-IN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450" y="976502"/>
            <a:ext cx="2073910" cy="527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DB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CONNECTION.JAVA:</a:t>
            </a:r>
            <a:endParaRPr sz="1400" dirty="0">
              <a:latin typeface="Times New Roman"/>
              <a:cs typeface="Times New Roman"/>
            </a:endParaRPr>
          </a:p>
          <a:p>
            <a:pPr marL="12700" marR="442595">
              <a:lnSpc>
                <a:spcPct val="210500"/>
              </a:lnSpc>
              <a:spcBef>
                <a:spcPts val="240"/>
              </a:spcBef>
            </a:pP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B23A2-49EA-94E1-DB6F-704E0837FC77}"/>
              </a:ext>
            </a:extLst>
          </p:cNvPr>
          <p:cNvSpPr txBox="1"/>
          <p:nvPr/>
        </p:nvSpPr>
        <p:spPr>
          <a:xfrm>
            <a:off x="882650" y="1689100"/>
            <a:ext cx="4724400" cy="8817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buNone/>
            </a:pPr>
            <a:b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/**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- JDBC connection manager for KEC Academic System.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* Connects to MySQL using MySQL Connector/J driver.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*/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public final class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private static final String DEFAULT_URL = 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"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kec_academic?useSSL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false&amp;allowPublicKeyRetrieval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true&amp;serverTimezone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=UTC";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private static final String DEFAULT_USER = "root";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private static final String DEFAULT_PASSWORD = "";</a:t>
            </a:r>
          </a:p>
          <a:p>
            <a:pPr>
              <a:lnSpc>
                <a:spcPct val="100000"/>
              </a:lnSpc>
              <a:buNone/>
            </a:pPr>
            <a:b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static {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try {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Class.forName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com.mysql.cj.jdbc.Driver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");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} catch (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ClassNotFoundException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System.err.println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("[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] MySQL Connector/J driver not found in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classpath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.");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b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private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lnSpc>
                <a:spcPct val="100000"/>
              </a:lnSpc>
              <a:buNone/>
            </a:pPr>
            <a:b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public static Connection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getConnection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() throws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String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System.getenv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getOrDefault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("KEC_DB_URL", DEFAULT_URL);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String user =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System.getenv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getOrDefault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("KEC_DB_USER", DEFAULT_USER);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String pass =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System.getenv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getOrDefault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("KEC_DB_PASSWORD", DEFAULT_PASSWORD);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return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, user, pass);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b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ysClr val="windowText" lastClr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public static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testConnection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try (Connection conn = 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getConnection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return conn != null &amp;&amp; !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conn.isClosed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} catch (</a:t>
            </a:r>
            <a:r>
              <a:rPr lang="en-IN" sz="1050" b="0" dirty="0" err="1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    return false;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buNone/>
            </a:pPr>
            <a:br>
              <a:rPr lang="en-IN" sz="1050" b="0" dirty="0">
                <a:solidFill>
                  <a:sysClr val="windowText" lastClr="000000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653" y="646158"/>
            <a:ext cx="2183765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OUTPUT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SCREENSHOTS: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MAIN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MENU: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437" y="4684892"/>
            <a:ext cx="3735704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STUDENT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COURSE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MANAGEMENT: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Times New Roman"/>
                <a:cs typeface="Times New Roman"/>
              </a:rPr>
              <a:t>1.STUDENT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REGISTRATION: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7309484"/>
            <a:ext cx="19113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2.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COURSE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CATALOG: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41A427-F3FE-9CCF-AD90-4A8A827F6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25" y="1393997"/>
            <a:ext cx="6140940" cy="32513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175044-A18F-0C19-4812-10A1ECD2E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222581"/>
            <a:ext cx="6104149" cy="19661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633A49-C112-8208-BB5D-257264596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0" y="7765966"/>
            <a:ext cx="6229930" cy="24811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47974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3.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lang="en-IN" sz="1400" b="1" dirty="0">
                <a:latin typeface="Times New Roman"/>
                <a:cs typeface="Times New Roman"/>
              </a:rPr>
              <a:t>COURSE</a:t>
            </a:r>
            <a:r>
              <a:rPr lang="en-IN" sz="1400" b="1" spc="10" dirty="0">
                <a:latin typeface="Times New Roman"/>
                <a:cs typeface="Times New Roman"/>
              </a:rPr>
              <a:t> </a:t>
            </a:r>
            <a:r>
              <a:rPr lang="en-IN" sz="1400" b="1" spc="-10" dirty="0">
                <a:latin typeface="Times New Roman"/>
                <a:cs typeface="Times New Roman"/>
              </a:rPr>
              <a:t>ENROLLMENT</a:t>
            </a:r>
            <a:r>
              <a:rPr lang="en-IN"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933571"/>
            <a:ext cx="3199765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Times New Roman"/>
                <a:cs typeface="Times New Roman"/>
              </a:rPr>
              <a:t>INCREMENTAL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MARKS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ENTRY: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1.PHASE 1 </a:t>
            </a:r>
            <a:r>
              <a:rPr sz="1400" b="1" spc="-10" dirty="0">
                <a:latin typeface="Times New Roman"/>
                <a:cs typeface="Times New Roman"/>
              </a:rPr>
              <a:t>(MID-SEMESTER):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016" y="7044847"/>
            <a:ext cx="3253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2.PHASE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(END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SEMESTER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-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CIA):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F998C4-5125-BF00-DBBF-9D9970CB4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" y="1430026"/>
            <a:ext cx="6400800" cy="1943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CF262F-254B-05F1-1B88-7B67FACEB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47" y="7378827"/>
            <a:ext cx="6153405" cy="28717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20ABC8-0DEC-E33B-48C9-3E217CC97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09" y="4906475"/>
            <a:ext cx="6356125" cy="19432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11325"/>
            <a:ext cx="2626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3.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PHASE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(POST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SEMESTER):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687951"/>
            <a:ext cx="3482975" cy="948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ATTENDANCE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GRADING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RULES: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latin typeface="Times New Roman"/>
                <a:cs typeface="Times New Roman"/>
              </a:rPr>
              <a:t>1.ATTENDANCE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FILTER: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743955"/>
            <a:ext cx="5731509" cy="284949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8AC810-9904-CD2A-6EA3-7C27E5057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1799236"/>
            <a:ext cx="6477000" cy="21858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09801"/>
            <a:ext cx="36118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STUDENT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SEMESTER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MARK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SHEET: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585840"/>
            <a:ext cx="5756910" cy="52197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20"/>
              </a:spcBef>
            </a:pPr>
            <a:r>
              <a:rPr sz="1600" b="1" dirty="0">
                <a:latin typeface="Times New Roman"/>
                <a:cs typeface="Times New Roman"/>
              </a:rPr>
              <a:t>DEPARTMENT</a:t>
            </a:r>
            <a:r>
              <a:rPr sz="1600" b="1" spc="3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WISE</a:t>
            </a:r>
            <a:r>
              <a:rPr sz="1600" b="1" spc="4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CLASS</a:t>
            </a:r>
            <a:r>
              <a:rPr sz="1600" b="1" spc="4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PERFORMANCE</a:t>
            </a:r>
            <a:r>
              <a:rPr sz="1600" b="1" spc="4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4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RESULT SUMMARY: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FB266-A701-4F44-19A6-BFE571160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" y="2008440"/>
            <a:ext cx="6400800" cy="30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A5D612-A678-6DB0-4BB1-EA7AA5F81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19" y="6796895"/>
            <a:ext cx="6400800" cy="29718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14647"/>
            <a:ext cx="2010410" cy="7219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latin typeface="Times New Roman"/>
                <a:cs typeface="Times New Roman"/>
              </a:rPr>
              <a:t>DATABASE: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400" b="1" dirty="0">
                <a:latin typeface="Times New Roman"/>
                <a:cs typeface="Times New Roman"/>
              </a:rPr>
              <a:t>STUDENTS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DATABASE: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369178"/>
            <a:ext cx="19113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COURSES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DATABASE: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49D7B6-680C-D23C-D0E5-AF9B38F61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29" y="2053094"/>
            <a:ext cx="6337300" cy="2677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22CAD2-D7DD-A957-1B0D-3FBAE577C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" y="6269630"/>
            <a:ext cx="6337300" cy="23930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11325"/>
            <a:ext cx="24549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ENROLLMENTS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DATABASE: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2669" y="7562470"/>
            <a:ext cx="5756275" cy="191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RESULT: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03400"/>
              </a:lnSpc>
            </a:pPr>
            <a:r>
              <a:rPr sz="1400" dirty="0">
                <a:latin typeface="Times New Roman"/>
                <a:cs typeface="Times New Roman"/>
              </a:rPr>
              <a:t>Thus,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Student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Academic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Continuous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Evaluation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Kongu </a:t>
            </a:r>
            <a:r>
              <a:rPr sz="1400" dirty="0">
                <a:latin typeface="Times New Roman"/>
                <a:cs typeface="Times New Roman"/>
              </a:rPr>
              <a:t>Engineering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College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(Autonomous)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Regulation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2024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successfully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designed, </a:t>
            </a:r>
            <a:r>
              <a:rPr sz="1400" dirty="0">
                <a:latin typeface="Times New Roman"/>
                <a:cs typeface="Times New Roman"/>
              </a:rPr>
              <a:t>developed,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tested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Java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(JDBC)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MySQL.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accurately </a:t>
            </a:r>
            <a:r>
              <a:rPr sz="1400" dirty="0">
                <a:latin typeface="Times New Roman"/>
                <a:cs typeface="Times New Roman"/>
              </a:rPr>
              <a:t>automates</a:t>
            </a:r>
            <a:r>
              <a:rPr sz="1400" spc="4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4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calculation</a:t>
            </a:r>
            <a:r>
              <a:rPr sz="1400" spc="4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4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Continuous</a:t>
            </a:r>
            <a:r>
              <a:rPr sz="1400" spc="4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Internal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Assessments</a:t>
            </a:r>
            <a:r>
              <a:rPr sz="1400" spc="4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(CIA),</a:t>
            </a:r>
            <a:r>
              <a:rPr sz="1400" spc="4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End </a:t>
            </a:r>
            <a:r>
              <a:rPr sz="1400" dirty="0">
                <a:latin typeface="Times New Roman"/>
                <a:cs typeface="Times New Roman"/>
              </a:rPr>
              <a:t>Semester</a:t>
            </a:r>
            <a:r>
              <a:rPr sz="1400" spc="9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Examinations</a:t>
            </a:r>
            <a:r>
              <a:rPr sz="1400" spc="9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(ESE),</a:t>
            </a:r>
            <a:r>
              <a:rPr sz="1400" spc="9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Letter</a:t>
            </a:r>
            <a:r>
              <a:rPr sz="1400" spc="9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Grades,</a:t>
            </a:r>
            <a:r>
              <a:rPr sz="1400" spc="4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Attendance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Eligibility,</a:t>
            </a:r>
            <a:r>
              <a:rPr sz="1400" spc="90" dirty="0">
                <a:latin typeface="Times New Roman"/>
                <a:cs typeface="Times New Roman"/>
              </a:rPr>
              <a:t> 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Semester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Grade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Point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Average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(SGPA).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BE49CB-268D-ACD2-889A-41F02A502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86" y="2237763"/>
            <a:ext cx="6581114" cy="45376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41805"/>
            <a:ext cx="5717540" cy="5949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REFERENCES:</a:t>
            </a:r>
            <a:endParaRPr sz="1600">
              <a:latin typeface="Times New Roman"/>
              <a:cs typeface="Times New Roman"/>
            </a:endParaRPr>
          </a:p>
          <a:p>
            <a:pPr marL="12700" marR="1071245" indent="152400">
              <a:lnSpc>
                <a:spcPct val="144200"/>
              </a:lnSpc>
              <a:spcBef>
                <a:spcPts val="254"/>
              </a:spcBef>
              <a:buAutoNum type="arabicPeriod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Oracle,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Java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Documentation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JDBC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Overview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Architecture.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https://docs.oracle.com/javase/8/docs/technotes/guides/jdbc/</a:t>
            </a:r>
            <a:r>
              <a:rPr sz="1200" b="1" spc="31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 indent="152400">
              <a:lnSpc>
                <a:spcPct val="143800"/>
              </a:lnSpc>
              <a:spcBef>
                <a:spcPts val="795"/>
              </a:spcBef>
              <a:buAutoNum type="arabicPeriod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Oracle,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Java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API –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HttpServer.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https://docs.oracle.com/en/java/javase/17/docs/api/jdk.httpserver/com/sun/net/httpserve</a:t>
            </a:r>
            <a:r>
              <a:rPr sz="1200" b="1" spc="-1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r/HttpServer.html</a:t>
            </a:r>
            <a:r>
              <a:rPr sz="1200" b="1" spc="-6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Oracle, </a:t>
            </a:r>
            <a:r>
              <a:rPr sz="1200" b="1" spc="-10" dirty="0">
                <a:latin typeface="Times New Roman"/>
                <a:cs typeface="Times New Roman"/>
              </a:rPr>
              <a:t>MySQL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8.0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Reference</a:t>
            </a:r>
            <a:r>
              <a:rPr sz="1200" b="1" dirty="0">
                <a:latin typeface="Times New Roman"/>
                <a:cs typeface="Times New Roman"/>
              </a:rPr>
              <a:t> Manual.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https://dev.mysql.com/doc/refman/8.0/en/</a:t>
            </a:r>
            <a:r>
              <a:rPr sz="1200" b="1" spc="1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36195" indent="152400">
              <a:lnSpc>
                <a:spcPct val="144200"/>
              </a:lnSpc>
              <a:spcBef>
                <a:spcPts val="795"/>
              </a:spcBef>
              <a:buAutoNum type="arabicPeriod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Oracle,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MySQL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Connector/J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Developer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Guide.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https://dev.mysql.com/doc/connector-</a:t>
            </a:r>
            <a:r>
              <a:rPr sz="1200" b="1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j/8.0/en/</a:t>
            </a:r>
            <a:r>
              <a:rPr sz="1200" b="1" spc="-4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68580" indent="152400">
              <a:lnSpc>
                <a:spcPct val="143300"/>
              </a:lnSpc>
              <a:spcBef>
                <a:spcPts val="805"/>
              </a:spcBef>
              <a:buAutoNum type="arabicPeriod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University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Grants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Commission,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Guidelines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Choice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Credit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(CBCS).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https://www.ugc.gov.in/pdfnews/8023719_Guidelines-</a:t>
            </a:r>
            <a:r>
              <a:rPr sz="1200" b="1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for-</a:t>
            </a:r>
            <a:r>
              <a:rPr sz="1200" b="1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CBCS.pdf</a:t>
            </a:r>
            <a:r>
              <a:rPr sz="1200" b="1" spc="19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Chart.js,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Chart.js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Documentation.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https://www.chartjs.org/docs/latest/</a:t>
            </a:r>
            <a:r>
              <a:rPr sz="1200" b="1" spc="1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1925" indent="-14922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192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Tailwind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CSS, </a:t>
            </a:r>
            <a:r>
              <a:rPr sz="1200" b="1" spc="-20" dirty="0">
                <a:latin typeface="Times New Roman"/>
                <a:cs typeface="Times New Roman"/>
              </a:rPr>
              <a:t>Tailwind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CSS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Documentation.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https://tailwindcss.com/docs</a:t>
            </a:r>
            <a:r>
              <a:rPr sz="1200" b="1" spc="3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1176020" indent="152400">
              <a:lnSpc>
                <a:spcPct val="143300"/>
              </a:lnSpc>
              <a:spcBef>
                <a:spcPts val="805"/>
              </a:spcBef>
              <a:buAutoNum type="arabicPeriod"/>
              <a:tabLst>
                <a:tab pos="1651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GeeksforGeeks, </a:t>
            </a:r>
            <a:r>
              <a:rPr sz="1200" b="1" dirty="0">
                <a:latin typeface="Times New Roman"/>
                <a:cs typeface="Times New Roman"/>
              </a:rPr>
              <a:t>Establishing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JDBC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Connection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Java.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https://www.geeksforgeeks.org/establishing-jdbc-connection-in-</a:t>
            </a:r>
            <a:r>
              <a:rPr sz="1200" b="1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java/</a:t>
            </a:r>
            <a:r>
              <a:rPr sz="1200" b="1" spc="22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466725" indent="146050">
              <a:lnSpc>
                <a:spcPct val="144200"/>
              </a:lnSpc>
              <a:spcBef>
                <a:spcPts val="790"/>
              </a:spcBef>
              <a:buAutoNum type="arabicPeriod"/>
              <a:tabLst>
                <a:tab pos="158750" algn="l"/>
              </a:tabLst>
            </a:pPr>
            <a:r>
              <a:rPr sz="1200" b="1" spc="-30" dirty="0">
                <a:latin typeface="Times New Roman"/>
                <a:cs typeface="Times New Roman"/>
              </a:rPr>
              <a:t>YouTube,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Java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JDBC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MySQL</a:t>
            </a:r>
            <a:r>
              <a:rPr sz="1200" b="1" spc="-9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Tutorial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Videos.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10"/>
              </a:rPr>
              <a:t>https://www.youtube.com/results?search_query=Java+JDBC+MySQL+tutorial</a:t>
            </a:r>
            <a:r>
              <a:rPr sz="1200" b="1" spc="19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970280" indent="219075">
              <a:lnSpc>
                <a:spcPct val="144200"/>
              </a:lnSpc>
              <a:spcBef>
                <a:spcPts val="790"/>
              </a:spcBef>
              <a:buAutoNum type="arabicPeriod"/>
              <a:tabLst>
                <a:tab pos="231775" algn="l"/>
              </a:tabLst>
            </a:pPr>
            <a:r>
              <a:rPr sz="1200" b="1" dirty="0">
                <a:latin typeface="Times New Roman"/>
                <a:cs typeface="Times New Roman"/>
              </a:rPr>
              <a:t>Anthropic,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Claude</a:t>
            </a:r>
            <a:r>
              <a:rPr sz="1200" b="1" spc="-8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AI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Assistant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(used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ideas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guidance). </a:t>
            </a:r>
            <a:r>
              <a:rPr sz="1200" b="1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11"/>
              </a:rPr>
              <a:t>https://claude.ai/</a:t>
            </a:r>
            <a:r>
              <a:rPr sz="1200" b="1" spc="7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797545"/>
            <a:ext cx="904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GITHUB: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88" y="10066033"/>
                </a:moveTo>
                <a:lnTo>
                  <a:pt x="6934200" y="10066033"/>
                </a:lnTo>
                <a:lnTo>
                  <a:pt x="18288" y="10066033"/>
                </a:lnTo>
                <a:lnTo>
                  <a:pt x="0" y="10066033"/>
                </a:lnTo>
                <a:lnTo>
                  <a:pt x="0" y="10084308"/>
                </a:lnTo>
                <a:lnTo>
                  <a:pt x="18288" y="10084308"/>
                </a:lnTo>
                <a:lnTo>
                  <a:pt x="6934200" y="10084308"/>
                </a:lnTo>
                <a:lnTo>
                  <a:pt x="6952488" y="10084308"/>
                </a:lnTo>
                <a:lnTo>
                  <a:pt x="6952488" y="10066033"/>
                </a:lnTo>
                <a:close/>
              </a:path>
              <a:path w="6952615" h="10084435">
                <a:moveTo>
                  <a:pt x="6952488" y="0"/>
                </a:moveTo>
                <a:lnTo>
                  <a:pt x="6934200" y="0"/>
                </a:lnTo>
                <a:lnTo>
                  <a:pt x="18288" y="0"/>
                </a:lnTo>
                <a:lnTo>
                  <a:pt x="0" y="0"/>
                </a:lnTo>
                <a:lnTo>
                  <a:pt x="0" y="18288"/>
                </a:lnTo>
                <a:lnTo>
                  <a:pt x="0" y="10066020"/>
                </a:lnTo>
                <a:lnTo>
                  <a:pt x="18288" y="10066020"/>
                </a:lnTo>
                <a:lnTo>
                  <a:pt x="18288" y="18288"/>
                </a:lnTo>
                <a:lnTo>
                  <a:pt x="6934200" y="18288"/>
                </a:lnTo>
                <a:lnTo>
                  <a:pt x="6934200" y="10066020"/>
                </a:lnTo>
                <a:lnTo>
                  <a:pt x="6952488" y="10066020"/>
                </a:lnTo>
                <a:lnTo>
                  <a:pt x="6952488" y="18288"/>
                </a:lnTo>
                <a:lnTo>
                  <a:pt x="6952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85CD7-E642-BCDB-ACCB-F09BEB793574}"/>
              </a:ext>
            </a:extLst>
          </p:cNvPr>
          <p:cNvSpPr txBox="1"/>
          <p:nvPr/>
        </p:nvSpPr>
        <p:spPr>
          <a:xfrm>
            <a:off x="692150" y="8349409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12"/>
              </a:rPr>
              <a:t>https://github.com/yashvanth111/Student-Academic-Continuous-Evaluation-System-using-Java-JDBC.git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2705</Words>
  <Application>Microsoft Office PowerPoint</Application>
  <PresentationFormat>Custom</PresentationFormat>
  <Paragraphs>267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Consolas</vt:lpstr>
      <vt:lpstr>Times New Roman</vt:lpstr>
      <vt:lpstr>ui-monospace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S0070557</dc:creator>
  <cp:lastModifiedBy>Yashvanth PS</cp:lastModifiedBy>
  <cp:revision>2</cp:revision>
  <dcterms:created xsi:type="dcterms:W3CDTF">2026-10-24T15:17:21Z</dcterms:created>
  <dcterms:modified xsi:type="dcterms:W3CDTF">2026-10-24T17:29:19Z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2026-10-24T00:00:00Z</vt:filetime>
  </property>
  <property fmtid="{D5CDD505-2E9C-101B-9397-08002B2CF9AE}" pid="4" name="Creator">
    <vt:lpwstr>Microsoft® Word for Microsoft 365</vt:lpwstr>
  </property>
  <property fmtid="{D5CDD505-2E9C-101B-9397-08002B2CF9AE}" pid="5" name="LastSaved">
    <vt:filetime>2026-10-24T00:00:00Z</vt:filetime>
  </property>
  <property fmtid="{D5CDD505-2E9C-101B-9397-08002B2CF9AE}" pid="6" name="Producer">
    <vt:lpwstr>Microsoft® Word for Microsoft 365</vt:lpwstr>
  </property>
</Properties>
</file>